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60" r:id="rId4"/>
    <p:sldId id="261" r:id="rId5"/>
    <p:sldId id="262"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46" autoAdjust="0"/>
    <p:restoredTop sz="94610"/>
  </p:normalViewPr>
  <p:slideViewPr>
    <p:cSldViewPr snapToGrid="0" snapToObjects="1">
      <p:cViewPr>
        <p:scale>
          <a:sx n="66" d="100"/>
          <a:sy n="66" d="100"/>
        </p:scale>
        <p:origin x="0" y="6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437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Shape 1"/>
          <p:cNvSpPr/>
          <p:nvPr/>
        </p:nvSpPr>
        <p:spPr>
          <a:xfrm>
            <a:off x="0" y="5070348"/>
            <a:ext cx="9144000" cy="73152"/>
          </a:xfrm>
          <a:prstGeom prst="rect">
            <a:avLst/>
          </a:prstGeom>
          <a:solidFill>
            <a:srgbClr val="F59E0B"/>
          </a:solidFill>
          <a:ln w="12700">
            <a:solidFill>
              <a:srgbClr val="F59E0B"/>
            </a:solidFill>
            <a:prstDash val="solid"/>
          </a:ln>
        </p:spPr>
      </p:sp>
      <p:sp>
        <p:nvSpPr>
          <p:cNvPr id="4" name="Shape 2"/>
          <p:cNvSpPr/>
          <p:nvPr/>
        </p:nvSpPr>
        <p:spPr>
          <a:xfrm>
            <a:off x="457200" y="1188720"/>
            <a:ext cx="64008" cy="2743200"/>
          </a:xfrm>
          <a:prstGeom prst="rect">
            <a:avLst/>
          </a:prstGeom>
          <a:solidFill>
            <a:srgbClr val="0D9488"/>
          </a:solidFill>
          <a:ln w="12700">
            <a:solidFill>
              <a:srgbClr val="0D9488"/>
            </a:solidFill>
            <a:prstDash val="solid"/>
          </a:ln>
        </p:spPr>
      </p:sp>
      <p:sp>
        <p:nvSpPr>
          <p:cNvPr id="5" name="Text 3"/>
          <p:cNvSpPr/>
          <p:nvPr/>
        </p:nvSpPr>
        <p:spPr>
          <a:xfrm>
            <a:off x="685800" y="1188720"/>
            <a:ext cx="7772400" cy="731520"/>
          </a:xfrm>
          <a:prstGeom prst="rect">
            <a:avLst/>
          </a:prstGeom>
          <a:noFill/>
          <a:ln/>
        </p:spPr>
        <p:txBody>
          <a:bodyPr wrap="square" lIns="0" tIns="0" rIns="0" bIns="0" rtlCol="0" anchor="ctr"/>
          <a:lstStyle/>
          <a:p>
            <a:pPr marL="0" indent="0">
              <a:buNone/>
            </a:pPr>
            <a:r>
              <a:rPr lang="en-US" sz="5200" b="1" kern="0" spc="600" dirty="0">
                <a:solidFill>
                  <a:srgbClr val="FFFFFF"/>
                </a:solidFill>
                <a:latin typeface="Calibri" pitchFamily="34" charset="0"/>
                <a:ea typeface="Calibri" pitchFamily="34" charset="-122"/>
                <a:cs typeface="Calibri" pitchFamily="34" charset="-120"/>
              </a:rPr>
              <a:t>OLIST</a:t>
            </a:r>
            <a:endParaRPr lang="en-US" sz="5200" dirty="0"/>
          </a:p>
        </p:txBody>
      </p:sp>
      <p:sp>
        <p:nvSpPr>
          <p:cNvPr id="6" name="Text 4"/>
          <p:cNvSpPr/>
          <p:nvPr/>
        </p:nvSpPr>
        <p:spPr>
          <a:xfrm>
            <a:off x="685800" y="1920240"/>
            <a:ext cx="7772400" cy="731520"/>
          </a:xfrm>
          <a:prstGeom prst="rect">
            <a:avLst/>
          </a:prstGeom>
          <a:noFill/>
          <a:ln/>
        </p:spPr>
        <p:txBody>
          <a:bodyPr wrap="square" lIns="0" tIns="0" rIns="0" bIns="0" rtlCol="0" anchor="ctr"/>
          <a:lstStyle/>
          <a:p>
            <a:pPr marL="0" indent="0">
              <a:buNone/>
            </a:pPr>
            <a:r>
              <a:rPr lang="en-US" sz="3600" kern="0" spc="300" dirty="0">
                <a:solidFill>
                  <a:srgbClr val="14B8A6"/>
                </a:solidFill>
                <a:latin typeface="Calibri" pitchFamily="34" charset="0"/>
                <a:ea typeface="Calibri" pitchFamily="34" charset="-122"/>
                <a:cs typeface="Calibri" pitchFamily="34" charset="-120"/>
              </a:rPr>
              <a:t>E-COMMERCE DASHBOARD</a:t>
            </a:r>
            <a:endParaRPr lang="en-US" sz="3600" dirty="0"/>
          </a:p>
        </p:txBody>
      </p:sp>
      <p:sp>
        <p:nvSpPr>
          <p:cNvPr id="7" name="Text 5"/>
          <p:cNvSpPr/>
          <p:nvPr/>
        </p:nvSpPr>
        <p:spPr>
          <a:xfrm>
            <a:off x="685800" y="2556498"/>
            <a:ext cx="73152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Revenue · Orders · Customers · Products</a:t>
            </a:r>
            <a:endParaRPr lang="en-US" sz="1400" dirty="0"/>
          </a:p>
        </p:txBody>
      </p:sp>
      <p:sp>
        <p:nvSpPr>
          <p:cNvPr id="8" name="Shape 6"/>
          <p:cNvSpPr/>
          <p:nvPr/>
        </p:nvSpPr>
        <p:spPr>
          <a:xfrm>
            <a:off x="685800" y="2946766"/>
            <a:ext cx="7772400" cy="45720"/>
          </a:xfrm>
          <a:prstGeom prst="rect">
            <a:avLst/>
          </a:prstGeom>
          <a:solidFill>
            <a:srgbClr val="334155"/>
          </a:solidFill>
          <a:ln w="12700">
            <a:solidFill>
              <a:srgbClr val="334155"/>
            </a:solidFill>
            <a:prstDash val="solid"/>
          </a:ln>
        </p:spPr>
      </p:sp>
      <p:sp>
        <p:nvSpPr>
          <p:cNvPr id="9" name="Text 7"/>
          <p:cNvSpPr/>
          <p:nvPr/>
        </p:nvSpPr>
        <p:spPr>
          <a:xfrm>
            <a:off x="685800" y="3109410"/>
            <a:ext cx="1828800" cy="201168"/>
          </a:xfrm>
          <a:prstGeom prst="rect">
            <a:avLst/>
          </a:prstGeom>
          <a:noFill/>
          <a:ln/>
        </p:spPr>
        <p:txBody>
          <a:bodyPr wrap="square" lIns="0" tIns="0" rIns="0" bIns="0" rtlCol="0" anchor="ctr"/>
          <a:lstStyle/>
          <a:p>
            <a:pPr marL="0" indent="0">
              <a:buNone/>
            </a:pPr>
            <a:r>
              <a:rPr lang="en-US" sz="800" kern="0" spc="200" dirty="0">
                <a:solidFill>
                  <a:srgbClr val="94A3B8"/>
                </a:solidFill>
                <a:latin typeface="Calibri" pitchFamily="34" charset="0"/>
                <a:ea typeface="Calibri" pitchFamily="34" charset="-122"/>
                <a:cs typeface="Calibri" pitchFamily="34" charset="-120"/>
              </a:rPr>
              <a:t>PERIOD</a:t>
            </a:r>
            <a:endParaRPr lang="en-US" sz="800" dirty="0"/>
          </a:p>
        </p:txBody>
      </p:sp>
      <p:sp>
        <p:nvSpPr>
          <p:cNvPr id="10" name="Text 8"/>
          <p:cNvSpPr/>
          <p:nvPr/>
        </p:nvSpPr>
        <p:spPr>
          <a:xfrm>
            <a:off x="685800" y="3310578"/>
            <a:ext cx="1828800" cy="256032"/>
          </a:xfrm>
          <a:prstGeom prst="rect">
            <a:avLst/>
          </a:prstGeom>
          <a:noFill/>
          <a:ln/>
        </p:spPr>
        <p:txBody>
          <a:bodyPr wrap="square" lIns="0" tIns="0" rIns="0" bIns="0" rtlCol="0" anchor="ctr"/>
          <a:lstStyle/>
          <a:p>
            <a:pPr marL="0" indent="0">
              <a:buNone/>
            </a:pPr>
            <a:r>
              <a:rPr lang="en-US" sz="1200" b="1" dirty="0">
                <a:solidFill>
                  <a:srgbClr val="FCD34D"/>
                </a:solidFill>
                <a:latin typeface="Calibri" pitchFamily="34" charset="0"/>
                <a:ea typeface="Calibri" pitchFamily="34" charset="-122"/>
                <a:cs typeface="Calibri" pitchFamily="34" charset="-120"/>
              </a:rPr>
              <a:t>2016 – 2018</a:t>
            </a:r>
            <a:endParaRPr lang="en-US" sz="1200" dirty="0"/>
          </a:p>
        </p:txBody>
      </p:sp>
      <p:sp>
        <p:nvSpPr>
          <p:cNvPr id="11" name="Text 9"/>
          <p:cNvSpPr/>
          <p:nvPr/>
        </p:nvSpPr>
        <p:spPr>
          <a:xfrm>
            <a:off x="2651760" y="3109410"/>
            <a:ext cx="1828800" cy="201168"/>
          </a:xfrm>
          <a:prstGeom prst="rect">
            <a:avLst/>
          </a:prstGeom>
          <a:noFill/>
          <a:ln/>
        </p:spPr>
        <p:txBody>
          <a:bodyPr wrap="square" lIns="0" tIns="0" rIns="0" bIns="0" rtlCol="0" anchor="ctr"/>
          <a:lstStyle/>
          <a:p>
            <a:pPr marL="0" indent="0">
              <a:buNone/>
            </a:pPr>
            <a:r>
              <a:rPr lang="en-US" sz="800" kern="0" spc="200" dirty="0">
                <a:solidFill>
                  <a:srgbClr val="94A3B8"/>
                </a:solidFill>
                <a:latin typeface="Calibri" pitchFamily="34" charset="0"/>
                <a:ea typeface="Calibri" pitchFamily="34" charset="-122"/>
                <a:cs typeface="Calibri" pitchFamily="34" charset="-120"/>
              </a:rPr>
              <a:t>STATES</a:t>
            </a:r>
            <a:endParaRPr lang="en-US" sz="800" dirty="0"/>
          </a:p>
        </p:txBody>
      </p:sp>
      <p:sp>
        <p:nvSpPr>
          <p:cNvPr id="12" name="Text 10"/>
          <p:cNvSpPr/>
          <p:nvPr/>
        </p:nvSpPr>
        <p:spPr>
          <a:xfrm>
            <a:off x="2651760" y="3310578"/>
            <a:ext cx="1828800" cy="256032"/>
          </a:xfrm>
          <a:prstGeom prst="rect">
            <a:avLst/>
          </a:prstGeom>
          <a:noFill/>
          <a:ln/>
        </p:spPr>
        <p:txBody>
          <a:bodyPr wrap="square" lIns="0" tIns="0" rIns="0" bIns="0" rtlCol="0" anchor="ctr"/>
          <a:lstStyle/>
          <a:p>
            <a:pPr marL="0" indent="0">
              <a:buNone/>
            </a:pPr>
            <a:r>
              <a:rPr lang="en-US" sz="1200" b="1" dirty="0">
                <a:solidFill>
                  <a:srgbClr val="FCD34D"/>
                </a:solidFill>
                <a:latin typeface="Calibri" pitchFamily="34" charset="0"/>
                <a:ea typeface="Calibri" pitchFamily="34" charset="-122"/>
                <a:cs typeface="Calibri" pitchFamily="34" charset="-120"/>
              </a:rPr>
              <a:t>27 States</a:t>
            </a:r>
            <a:endParaRPr lang="en-US" sz="1200" dirty="0"/>
          </a:p>
        </p:txBody>
      </p:sp>
      <p:sp>
        <p:nvSpPr>
          <p:cNvPr id="13" name="Text 11"/>
          <p:cNvSpPr/>
          <p:nvPr/>
        </p:nvSpPr>
        <p:spPr>
          <a:xfrm>
            <a:off x="4617720" y="3109410"/>
            <a:ext cx="1828800" cy="201168"/>
          </a:xfrm>
          <a:prstGeom prst="rect">
            <a:avLst/>
          </a:prstGeom>
          <a:noFill/>
          <a:ln/>
        </p:spPr>
        <p:txBody>
          <a:bodyPr wrap="square" lIns="0" tIns="0" rIns="0" bIns="0" rtlCol="0" anchor="ctr"/>
          <a:lstStyle/>
          <a:p>
            <a:pPr marL="0" indent="0">
              <a:buNone/>
            </a:pPr>
            <a:r>
              <a:rPr lang="en-US" sz="800" kern="0" spc="200" dirty="0">
                <a:solidFill>
                  <a:srgbClr val="94A3B8"/>
                </a:solidFill>
                <a:latin typeface="Calibri" pitchFamily="34" charset="0"/>
                <a:ea typeface="Calibri" pitchFamily="34" charset="-122"/>
                <a:cs typeface="Calibri" pitchFamily="34" charset="-120"/>
              </a:rPr>
              <a:t>PAYMENT TYPES</a:t>
            </a:r>
            <a:endParaRPr lang="en-US" sz="800" dirty="0"/>
          </a:p>
        </p:txBody>
      </p:sp>
      <p:sp>
        <p:nvSpPr>
          <p:cNvPr id="14" name="Text 12"/>
          <p:cNvSpPr/>
          <p:nvPr/>
        </p:nvSpPr>
        <p:spPr>
          <a:xfrm>
            <a:off x="4617720" y="3310578"/>
            <a:ext cx="1828800" cy="256032"/>
          </a:xfrm>
          <a:prstGeom prst="rect">
            <a:avLst/>
          </a:prstGeom>
          <a:noFill/>
          <a:ln/>
        </p:spPr>
        <p:txBody>
          <a:bodyPr wrap="square" lIns="0" tIns="0" rIns="0" bIns="0" rtlCol="0" anchor="ctr"/>
          <a:lstStyle/>
          <a:p>
            <a:pPr marL="0" indent="0">
              <a:buNone/>
            </a:pPr>
            <a:r>
              <a:rPr lang="en-US" sz="1200" b="1" dirty="0">
                <a:solidFill>
                  <a:srgbClr val="FCD34D"/>
                </a:solidFill>
                <a:latin typeface="Calibri" pitchFamily="34" charset="0"/>
                <a:ea typeface="Calibri" pitchFamily="34" charset="-122"/>
                <a:cs typeface="Calibri" pitchFamily="34" charset="-120"/>
              </a:rPr>
              <a:t>5 Types</a:t>
            </a:r>
            <a:endParaRPr lang="en-US" sz="1200" dirty="0"/>
          </a:p>
        </p:txBody>
      </p:sp>
      <p:sp>
        <p:nvSpPr>
          <p:cNvPr id="15" name="Text 13"/>
          <p:cNvSpPr/>
          <p:nvPr/>
        </p:nvSpPr>
        <p:spPr>
          <a:xfrm>
            <a:off x="6583680" y="3112379"/>
            <a:ext cx="1828800" cy="201168"/>
          </a:xfrm>
          <a:prstGeom prst="rect">
            <a:avLst/>
          </a:prstGeom>
          <a:noFill/>
          <a:ln/>
        </p:spPr>
        <p:txBody>
          <a:bodyPr wrap="square" lIns="0" tIns="0" rIns="0" bIns="0" rtlCol="0" anchor="ctr"/>
          <a:lstStyle/>
          <a:p>
            <a:pPr marL="0" indent="0">
              <a:buNone/>
            </a:pPr>
            <a:r>
              <a:rPr lang="en-US" sz="800" kern="0" spc="200" dirty="0">
                <a:solidFill>
                  <a:srgbClr val="94A3B8"/>
                </a:solidFill>
                <a:latin typeface="Calibri" pitchFamily="34" charset="0"/>
                <a:ea typeface="Calibri" pitchFamily="34" charset="-122"/>
                <a:cs typeface="Calibri" pitchFamily="34" charset="-120"/>
              </a:rPr>
              <a:t>DATA POINTS</a:t>
            </a:r>
            <a:endParaRPr lang="en-US" sz="800" dirty="0"/>
          </a:p>
        </p:txBody>
      </p:sp>
      <p:sp>
        <p:nvSpPr>
          <p:cNvPr id="16" name="Text 14"/>
          <p:cNvSpPr/>
          <p:nvPr/>
        </p:nvSpPr>
        <p:spPr>
          <a:xfrm>
            <a:off x="6583680" y="3310578"/>
            <a:ext cx="1828800" cy="256032"/>
          </a:xfrm>
          <a:prstGeom prst="rect">
            <a:avLst/>
          </a:prstGeom>
          <a:noFill/>
          <a:ln/>
        </p:spPr>
        <p:txBody>
          <a:bodyPr wrap="square" lIns="0" tIns="0" rIns="0" bIns="0" rtlCol="0" anchor="ctr"/>
          <a:lstStyle/>
          <a:p>
            <a:pPr marL="0" indent="0">
              <a:buNone/>
            </a:pPr>
            <a:r>
              <a:rPr lang="en-US" sz="1200" b="1" dirty="0">
                <a:solidFill>
                  <a:srgbClr val="FCD34D"/>
                </a:solidFill>
                <a:latin typeface="Calibri" pitchFamily="34" charset="0"/>
                <a:ea typeface="Calibri" pitchFamily="34" charset="-122"/>
                <a:cs typeface="Calibri" pitchFamily="34" charset="-120"/>
              </a:rPr>
              <a:t>118,434 Orders</a:t>
            </a:r>
          </a:p>
        </p:txBody>
      </p:sp>
      <p:sp>
        <p:nvSpPr>
          <p:cNvPr id="17" name="Text 15"/>
          <p:cNvSpPr/>
          <p:nvPr/>
        </p:nvSpPr>
        <p:spPr>
          <a:xfrm>
            <a:off x="0" y="4800600"/>
            <a:ext cx="9144000" cy="256032"/>
          </a:xfrm>
          <a:prstGeom prst="rect">
            <a:avLst/>
          </a:prstGeom>
          <a:noFill/>
          <a:ln/>
        </p:spPr>
        <p:txBody>
          <a:bodyPr wrap="square" rtlCol="0" anchor="ctr"/>
          <a:lstStyle/>
          <a:p>
            <a:pPr algn="ctr"/>
            <a:r>
              <a:rPr lang="en-US" sz="900" dirty="0">
                <a:solidFill>
                  <a:srgbClr val="94A3B8"/>
                </a:solidFill>
                <a:latin typeface="Calibri" pitchFamily="34" charset="0"/>
                <a:ea typeface="Calibri" pitchFamily="34" charset="-122"/>
                <a:cs typeface="Calibri" pitchFamily="34" charset="-120"/>
              </a:rPr>
              <a:t>Prepared by: Shrutee Revankar |  Tools: Power BI · Excel · Python · Pandas · Matplotlib · </a:t>
            </a:r>
            <a:r>
              <a:rPr lang="en-US" sz="900" dirty="0" err="1">
                <a:solidFill>
                  <a:srgbClr val="94A3B8"/>
                </a:solidFill>
                <a:latin typeface="Calibri" pitchFamily="34" charset="0"/>
                <a:ea typeface="Calibri" pitchFamily="34" charset="-122"/>
                <a:cs typeface="Calibri" pitchFamily="34" charset="-120"/>
              </a:rPr>
              <a:t>Streamlit</a:t>
            </a:r>
            <a:r>
              <a:rPr lang="en-US" sz="900" dirty="0">
                <a:solidFill>
                  <a:srgbClr val="94A3B8"/>
                </a:solidFill>
                <a:latin typeface="Calibri" pitchFamily="34" charset="0"/>
                <a:ea typeface="Calibri" pitchFamily="34" charset="-122"/>
                <a:cs typeface="Calibri" pitchFamily="34" charset="-120"/>
              </a:rPr>
              <a:t> </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65760" y="0"/>
            <a:ext cx="822960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01  |  PROJECT OVERVIEW</a:t>
            </a:r>
            <a:endParaRPr lang="en-US" sz="2000" dirty="0"/>
          </a:p>
        </p:txBody>
      </p:sp>
      <p:sp>
        <p:nvSpPr>
          <p:cNvPr id="4" name="Shape 2"/>
          <p:cNvSpPr/>
          <p:nvPr/>
        </p:nvSpPr>
        <p:spPr>
          <a:xfrm>
            <a:off x="274320" y="822960"/>
            <a:ext cx="4206240" cy="1463040"/>
          </a:xfrm>
          <a:prstGeom prst="rect">
            <a:avLst/>
          </a:prstGeom>
          <a:solidFill>
            <a:srgbClr val="FFFFFF"/>
          </a:solidFill>
          <a:ln w="6350">
            <a:solidFill>
              <a:srgbClr val="E2E8F0"/>
            </a:solidFill>
            <a:prstDash val="solid"/>
          </a:ln>
          <a:effectLst>
            <a:outerShdw blurRad="101600" dist="25400" dir="8100000" algn="bl" rotWithShape="0">
              <a:srgbClr val="000000">
                <a:alpha val="8000"/>
              </a:srgbClr>
            </a:outerShdw>
          </a:effectLst>
        </p:spPr>
      </p:sp>
      <p:sp>
        <p:nvSpPr>
          <p:cNvPr id="5" name="Shape 3"/>
          <p:cNvSpPr/>
          <p:nvPr/>
        </p:nvSpPr>
        <p:spPr>
          <a:xfrm>
            <a:off x="274320" y="822960"/>
            <a:ext cx="64008" cy="1463040"/>
          </a:xfrm>
          <a:prstGeom prst="rect">
            <a:avLst/>
          </a:prstGeom>
          <a:solidFill>
            <a:srgbClr val="0D9488"/>
          </a:solidFill>
          <a:ln w="12700">
            <a:solidFill>
              <a:srgbClr val="0D9488"/>
            </a:solidFill>
            <a:prstDash val="solid"/>
          </a:ln>
        </p:spPr>
      </p:sp>
      <p:sp>
        <p:nvSpPr>
          <p:cNvPr id="6" name="Text 4"/>
          <p:cNvSpPr/>
          <p:nvPr/>
        </p:nvSpPr>
        <p:spPr>
          <a:xfrm>
            <a:off x="438912" y="932688"/>
            <a:ext cx="384048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  Project Goal</a:t>
            </a:r>
            <a:endParaRPr lang="en-US" sz="1300" dirty="0"/>
          </a:p>
        </p:txBody>
      </p:sp>
      <p:sp>
        <p:nvSpPr>
          <p:cNvPr id="7" name="Text 5"/>
          <p:cNvSpPr/>
          <p:nvPr/>
        </p:nvSpPr>
        <p:spPr>
          <a:xfrm>
            <a:off x="438912" y="1298448"/>
            <a:ext cx="3840480" cy="868680"/>
          </a:xfrm>
          <a:prstGeom prst="rect">
            <a:avLst/>
          </a:prstGeom>
          <a:noFill/>
          <a:ln/>
        </p:spPr>
        <p:txBody>
          <a:bodyPr wrap="square" lIns="0" tIns="0" rIns="0" bIns="0" rtlCol="0" anchor="ctr"/>
          <a:lstStyle/>
          <a:p>
            <a:r>
              <a:rPr lang="en-IN" sz="1050" dirty="0"/>
              <a:t>Analyze </a:t>
            </a:r>
            <a:r>
              <a:rPr lang="en-IN" sz="1050" dirty="0" err="1"/>
              <a:t>Olist</a:t>
            </a:r>
            <a:r>
              <a:rPr lang="en-IN" sz="1050" dirty="0"/>
              <a:t> e-commerce data across 27 Brazilian </a:t>
            </a:r>
            <a:r>
              <a:rPr lang="en-US" sz="1050" dirty="0"/>
              <a:t>states</a:t>
            </a:r>
            <a:r>
              <a:rPr lang="en-IN" sz="1050" dirty="0"/>
              <a:t> to identify sales trends, customer behavior and business insights through interactive dashboards.</a:t>
            </a:r>
            <a:endParaRPr lang="en-US" sz="1050" dirty="0"/>
          </a:p>
        </p:txBody>
      </p:sp>
      <p:sp>
        <p:nvSpPr>
          <p:cNvPr id="8" name="Shape 6"/>
          <p:cNvSpPr/>
          <p:nvPr/>
        </p:nvSpPr>
        <p:spPr>
          <a:xfrm>
            <a:off x="274320" y="2514600"/>
            <a:ext cx="4206240" cy="1463040"/>
          </a:xfrm>
          <a:prstGeom prst="rect">
            <a:avLst/>
          </a:prstGeom>
          <a:solidFill>
            <a:srgbClr val="FFFFFF"/>
          </a:solidFill>
          <a:ln w="6350">
            <a:solidFill>
              <a:srgbClr val="E2E8F0"/>
            </a:solidFill>
            <a:prstDash val="solid"/>
          </a:ln>
          <a:effectLst>
            <a:outerShdw blurRad="101600" dist="25400" dir="8100000" algn="bl" rotWithShape="0">
              <a:srgbClr val="000000">
                <a:alpha val="8000"/>
              </a:srgbClr>
            </a:outerShdw>
          </a:effectLst>
        </p:spPr>
      </p:sp>
      <p:sp>
        <p:nvSpPr>
          <p:cNvPr id="9" name="Shape 7"/>
          <p:cNvSpPr/>
          <p:nvPr/>
        </p:nvSpPr>
        <p:spPr>
          <a:xfrm>
            <a:off x="274320" y="2514600"/>
            <a:ext cx="64008" cy="1463040"/>
          </a:xfrm>
          <a:prstGeom prst="rect">
            <a:avLst/>
          </a:prstGeom>
          <a:solidFill>
            <a:srgbClr val="0D9488"/>
          </a:solidFill>
          <a:ln w="12700">
            <a:solidFill>
              <a:srgbClr val="0D9488"/>
            </a:solidFill>
            <a:prstDash val="solid"/>
          </a:ln>
        </p:spPr>
      </p:sp>
      <p:sp>
        <p:nvSpPr>
          <p:cNvPr id="10" name="Text 8"/>
          <p:cNvSpPr/>
          <p:nvPr/>
        </p:nvSpPr>
        <p:spPr>
          <a:xfrm>
            <a:off x="438912" y="2624328"/>
            <a:ext cx="384048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  Scope</a:t>
            </a:r>
            <a:endParaRPr lang="en-US" sz="1300" dirty="0"/>
          </a:p>
        </p:txBody>
      </p:sp>
      <p:sp>
        <p:nvSpPr>
          <p:cNvPr id="11" name="Text 9"/>
          <p:cNvSpPr/>
          <p:nvPr/>
        </p:nvSpPr>
        <p:spPr>
          <a:xfrm>
            <a:off x="438912" y="2990088"/>
            <a:ext cx="3840480" cy="8686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3-years dataset (2016 – 2018) covering 118,8434 orders, revenue trends, customers, payment types, product categories and deliveries.</a:t>
            </a:r>
            <a:endParaRPr lang="en-US" sz="1050" dirty="0"/>
          </a:p>
        </p:txBody>
      </p:sp>
      <p:sp>
        <p:nvSpPr>
          <p:cNvPr id="12" name="Shape 10"/>
          <p:cNvSpPr/>
          <p:nvPr/>
        </p:nvSpPr>
        <p:spPr>
          <a:xfrm>
            <a:off x="4754880" y="822960"/>
            <a:ext cx="4206240" cy="1463040"/>
          </a:xfrm>
          <a:prstGeom prst="rect">
            <a:avLst/>
          </a:prstGeom>
          <a:solidFill>
            <a:srgbClr val="FFFFFF"/>
          </a:solidFill>
          <a:ln w="6350">
            <a:solidFill>
              <a:srgbClr val="E2E8F0"/>
            </a:solidFill>
            <a:prstDash val="solid"/>
          </a:ln>
          <a:effectLst>
            <a:outerShdw blurRad="101600" dist="25400" dir="8100000" algn="bl" rotWithShape="0">
              <a:srgbClr val="000000">
                <a:alpha val="8000"/>
              </a:srgbClr>
            </a:outerShdw>
          </a:effectLst>
        </p:spPr>
      </p:sp>
      <p:sp>
        <p:nvSpPr>
          <p:cNvPr id="13" name="Shape 11"/>
          <p:cNvSpPr/>
          <p:nvPr/>
        </p:nvSpPr>
        <p:spPr>
          <a:xfrm>
            <a:off x="4754880" y="822960"/>
            <a:ext cx="64008" cy="1463040"/>
          </a:xfrm>
          <a:prstGeom prst="rect">
            <a:avLst/>
          </a:prstGeom>
          <a:solidFill>
            <a:srgbClr val="0D9488"/>
          </a:solidFill>
          <a:ln w="12700">
            <a:solidFill>
              <a:srgbClr val="0D9488"/>
            </a:solidFill>
            <a:prstDash val="solid"/>
          </a:ln>
        </p:spPr>
      </p:sp>
      <p:sp>
        <p:nvSpPr>
          <p:cNvPr id="14" name="Text 12"/>
          <p:cNvSpPr/>
          <p:nvPr/>
        </p:nvSpPr>
        <p:spPr>
          <a:xfrm>
            <a:off x="4919472" y="932688"/>
            <a:ext cx="384048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  States Covered</a:t>
            </a:r>
            <a:endParaRPr lang="en-US" sz="1300" dirty="0"/>
          </a:p>
        </p:txBody>
      </p:sp>
      <p:sp>
        <p:nvSpPr>
          <p:cNvPr id="15" name="Text 13"/>
          <p:cNvSpPr/>
          <p:nvPr/>
        </p:nvSpPr>
        <p:spPr>
          <a:xfrm>
            <a:off x="4919472" y="1298448"/>
            <a:ext cx="3840480" cy="868680"/>
          </a:xfrm>
          <a:prstGeom prst="rect">
            <a:avLst/>
          </a:prstGeom>
          <a:noFill/>
          <a:ln/>
        </p:spPr>
        <p:txBody>
          <a:bodyPr wrap="square" lIns="0" tIns="0" rIns="0" bIns="0" rtlCol="0" anchor="ctr"/>
          <a:lstStyle/>
          <a:p>
            <a:r>
              <a:rPr lang="en-IN" sz="900" dirty="0"/>
              <a:t>Acre (AC), Alagoas (AL), Amapá (AP), Amazonas (AM), Bahia (BA), Ceará (CE), Distrito Federal (DF), Espírito Santo (ES), Goiás (GO), Maranhão (MA), Mato Grosso (MT), Mato Grosso do Sul (MS), Minas Gerais (MG), Pará (PA), Paraíba (PB), Paraná (PR), Pernambuco (PE), Piauí (PI), Rio de Janeiro (RJ), Rio Grande do Norte (RN), Rio Grande do Sul (RS), Rondônia (RO), Roraima (RR), Santa Catarina (SC), São Paulo (SP), Sergipe (SE), Tocantins (TO)</a:t>
            </a:r>
            <a:endParaRPr lang="en-US" sz="900" dirty="0"/>
          </a:p>
        </p:txBody>
      </p:sp>
      <p:sp>
        <p:nvSpPr>
          <p:cNvPr id="16" name="Shape 14"/>
          <p:cNvSpPr/>
          <p:nvPr/>
        </p:nvSpPr>
        <p:spPr>
          <a:xfrm>
            <a:off x="4754880" y="2514600"/>
            <a:ext cx="4206240" cy="1463040"/>
          </a:xfrm>
          <a:prstGeom prst="rect">
            <a:avLst/>
          </a:prstGeom>
          <a:solidFill>
            <a:srgbClr val="FFFFFF"/>
          </a:solidFill>
          <a:ln w="6350">
            <a:solidFill>
              <a:srgbClr val="E2E8F0"/>
            </a:solidFill>
            <a:prstDash val="solid"/>
          </a:ln>
          <a:effectLst>
            <a:outerShdw blurRad="101600" dist="25400" dir="8100000" algn="bl" rotWithShape="0">
              <a:srgbClr val="000000">
                <a:alpha val="8000"/>
              </a:srgbClr>
            </a:outerShdw>
          </a:effectLst>
        </p:spPr>
      </p:sp>
      <p:sp>
        <p:nvSpPr>
          <p:cNvPr id="17" name="Shape 15"/>
          <p:cNvSpPr/>
          <p:nvPr/>
        </p:nvSpPr>
        <p:spPr>
          <a:xfrm>
            <a:off x="4754880" y="2514600"/>
            <a:ext cx="64008" cy="1463040"/>
          </a:xfrm>
          <a:prstGeom prst="rect">
            <a:avLst/>
          </a:prstGeom>
          <a:solidFill>
            <a:srgbClr val="0D9488"/>
          </a:solidFill>
          <a:ln w="12700">
            <a:solidFill>
              <a:srgbClr val="0D9488"/>
            </a:solidFill>
            <a:prstDash val="solid"/>
          </a:ln>
        </p:spPr>
      </p:sp>
      <p:sp>
        <p:nvSpPr>
          <p:cNvPr id="18" name="Text 16"/>
          <p:cNvSpPr/>
          <p:nvPr/>
        </p:nvSpPr>
        <p:spPr>
          <a:xfrm>
            <a:off x="4919472" y="2624328"/>
            <a:ext cx="384048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  Tools Used</a:t>
            </a:r>
            <a:endParaRPr lang="en-US" sz="1300" dirty="0"/>
          </a:p>
        </p:txBody>
      </p:sp>
      <p:sp>
        <p:nvSpPr>
          <p:cNvPr id="19" name="Text 17"/>
          <p:cNvSpPr/>
          <p:nvPr/>
        </p:nvSpPr>
        <p:spPr>
          <a:xfrm>
            <a:off x="4919472" y="2990088"/>
            <a:ext cx="3840480" cy="868680"/>
          </a:xfrm>
          <a:prstGeom prst="rect">
            <a:avLst/>
          </a:prstGeom>
          <a:noFill/>
          <a:ln/>
        </p:spPr>
        <p:txBody>
          <a:bodyPr wrap="square" lIns="0" tIns="0" rIns="0" bIns="0" rtlCol="0" anchor="ctr"/>
          <a:lstStyle/>
          <a:p>
            <a:r>
              <a:rPr lang="en-US" sz="1050" dirty="0">
                <a:solidFill>
                  <a:srgbClr val="334155"/>
                </a:solidFill>
                <a:latin typeface="Calibri" pitchFamily="34" charset="0"/>
                <a:ea typeface="Calibri" pitchFamily="34" charset="-122"/>
                <a:cs typeface="Calibri" pitchFamily="34" charset="-120"/>
              </a:rPr>
              <a:t>· Power BI for interactive dashboards.</a:t>
            </a:r>
          </a:p>
          <a:p>
            <a:r>
              <a:rPr lang="en-US" sz="1050" dirty="0">
                <a:solidFill>
                  <a:srgbClr val="334155"/>
                </a:solidFill>
                <a:latin typeface="Calibri" pitchFamily="34" charset="0"/>
                <a:ea typeface="Calibri" pitchFamily="34" charset="-122"/>
                <a:cs typeface="Calibri" pitchFamily="34" charset="-120"/>
              </a:rPr>
              <a:t>· Excel for initial exploration and cleaning.</a:t>
            </a:r>
          </a:p>
          <a:p>
            <a:pPr marL="0" indent="0">
              <a:buNone/>
            </a:pPr>
            <a:r>
              <a:rPr lang="en-US" sz="1050" dirty="0">
                <a:solidFill>
                  <a:srgbClr val="334155"/>
                </a:solidFill>
                <a:latin typeface="Calibri" pitchFamily="34" charset="0"/>
                <a:ea typeface="Calibri" pitchFamily="34" charset="-122"/>
                <a:cs typeface="Calibri" pitchFamily="34" charset="-120"/>
              </a:rPr>
              <a:t>· Python, pandas, </a:t>
            </a:r>
            <a:r>
              <a:rPr lang="en-US" sz="1050" dirty="0" err="1">
                <a:solidFill>
                  <a:srgbClr val="334155"/>
                </a:solidFill>
                <a:latin typeface="Calibri" pitchFamily="34" charset="0"/>
                <a:ea typeface="Calibri" pitchFamily="34" charset="-122"/>
                <a:cs typeface="Calibri" pitchFamily="34" charset="-120"/>
              </a:rPr>
              <a:t>sreamlit</a:t>
            </a:r>
            <a:r>
              <a:rPr lang="en-US" sz="1050" dirty="0">
                <a:solidFill>
                  <a:srgbClr val="334155"/>
                </a:solidFill>
                <a:latin typeface="Calibri" pitchFamily="34" charset="0"/>
                <a:ea typeface="Calibri" pitchFamily="34" charset="-122"/>
                <a:cs typeface="Calibri" pitchFamily="34" charset="-120"/>
              </a:rPr>
              <a:t>, </a:t>
            </a:r>
            <a:r>
              <a:rPr lang="en-US" sz="1050" dirty="0" err="1">
                <a:solidFill>
                  <a:srgbClr val="334155"/>
                </a:solidFill>
                <a:latin typeface="Calibri" pitchFamily="34" charset="0"/>
                <a:ea typeface="Calibri" pitchFamily="34" charset="-122"/>
                <a:cs typeface="Calibri" pitchFamily="34" charset="-120"/>
              </a:rPr>
              <a:t>plotly</a:t>
            </a:r>
            <a:r>
              <a:rPr lang="en-US" sz="1050" dirty="0">
                <a:solidFill>
                  <a:srgbClr val="334155"/>
                </a:solidFill>
                <a:latin typeface="Calibri" pitchFamily="34" charset="0"/>
                <a:ea typeface="Calibri" pitchFamily="34" charset="-122"/>
                <a:cs typeface="Calibri" pitchFamily="34" charset="-120"/>
              </a:rPr>
              <a:t>, scikit-learn for further analysis.</a:t>
            </a:r>
          </a:p>
        </p:txBody>
      </p:sp>
      <p:sp>
        <p:nvSpPr>
          <p:cNvPr id="20" name="Shape 18"/>
          <p:cNvSpPr/>
          <p:nvPr/>
        </p:nvSpPr>
        <p:spPr>
          <a:xfrm>
            <a:off x="-274320" y="4151376"/>
            <a:ext cx="9144000" cy="932688"/>
          </a:xfrm>
          <a:prstGeom prst="rect">
            <a:avLst/>
          </a:prstGeom>
          <a:solidFill>
            <a:srgbClr val="0D9488"/>
          </a:solidFill>
          <a:ln w="12700">
            <a:solidFill>
              <a:srgbClr val="0D9488"/>
            </a:solidFill>
            <a:prstDash val="solid"/>
          </a:ln>
        </p:spPr>
      </p:sp>
      <p:sp>
        <p:nvSpPr>
          <p:cNvPr id="21" name="Text 19"/>
          <p:cNvSpPr/>
          <p:nvPr/>
        </p:nvSpPr>
        <p:spPr>
          <a:xfrm>
            <a:off x="274320" y="4251960"/>
            <a:ext cx="164592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R$ 20.47M</a:t>
            </a:r>
            <a:endParaRPr lang="en-US" sz="2000" dirty="0"/>
          </a:p>
        </p:txBody>
      </p:sp>
      <p:sp>
        <p:nvSpPr>
          <p:cNvPr id="22" name="Text 20"/>
          <p:cNvSpPr/>
          <p:nvPr/>
        </p:nvSpPr>
        <p:spPr>
          <a:xfrm>
            <a:off x="274320" y="4663440"/>
            <a:ext cx="1645920" cy="256032"/>
          </a:xfrm>
          <a:prstGeom prst="rect">
            <a:avLst/>
          </a:prstGeom>
          <a:noFill/>
          <a:ln/>
        </p:spPr>
        <p:txBody>
          <a:bodyPr wrap="square" lIns="0" tIns="0" rIns="0" bIns="0" rtlCol="0" anchor="ctr"/>
          <a:lstStyle/>
          <a:p>
            <a:pPr marL="0" indent="0" algn="ctr">
              <a:buNone/>
            </a:pPr>
            <a:r>
              <a:rPr lang="en-US" sz="900" dirty="0">
                <a:solidFill>
                  <a:srgbClr val="FCD34D"/>
                </a:solidFill>
                <a:latin typeface="Calibri" pitchFamily="34" charset="0"/>
                <a:ea typeface="Calibri" pitchFamily="34" charset="-122"/>
                <a:cs typeface="Calibri" pitchFamily="34" charset="-120"/>
              </a:rPr>
              <a:t>Total Revenue</a:t>
            </a:r>
            <a:endParaRPr lang="en-US" sz="900" dirty="0"/>
          </a:p>
        </p:txBody>
      </p:sp>
      <p:sp>
        <p:nvSpPr>
          <p:cNvPr id="23" name="Text 21"/>
          <p:cNvSpPr/>
          <p:nvPr/>
        </p:nvSpPr>
        <p:spPr>
          <a:xfrm>
            <a:off x="2057400" y="4251960"/>
            <a:ext cx="164592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99,441</a:t>
            </a:r>
            <a:endParaRPr lang="en-US" sz="2000" dirty="0"/>
          </a:p>
        </p:txBody>
      </p:sp>
      <p:sp>
        <p:nvSpPr>
          <p:cNvPr id="24" name="Text 22"/>
          <p:cNvSpPr/>
          <p:nvPr/>
        </p:nvSpPr>
        <p:spPr>
          <a:xfrm>
            <a:off x="2057400" y="4663440"/>
            <a:ext cx="1645920" cy="256032"/>
          </a:xfrm>
          <a:prstGeom prst="rect">
            <a:avLst/>
          </a:prstGeom>
          <a:noFill/>
          <a:ln/>
        </p:spPr>
        <p:txBody>
          <a:bodyPr wrap="square" lIns="0" tIns="0" rIns="0" bIns="0" rtlCol="0" anchor="ctr"/>
          <a:lstStyle/>
          <a:p>
            <a:pPr marL="0" indent="0" algn="ctr">
              <a:buNone/>
            </a:pPr>
            <a:r>
              <a:rPr lang="en-US" sz="900" dirty="0">
                <a:solidFill>
                  <a:srgbClr val="FCD34D"/>
                </a:solidFill>
                <a:latin typeface="Calibri" pitchFamily="34" charset="0"/>
                <a:ea typeface="Calibri" pitchFamily="34" charset="-122"/>
                <a:cs typeface="Calibri" pitchFamily="34" charset="-120"/>
              </a:rPr>
              <a:t>Orders</a:t>
            </a:r>
            <a:endParaRPr lang="en-US" sz="900" dirty="0"/>
          </a:p>
        </p:txBody>
      </p:sp>
      <p:sp>
        <p:nvSpPr>
          <p:cNvPr id="25" name="Text 23"/>
          <p:cNvSpPr/>
          <p:nvPr/>
        </p:nvSpPr>
        <p:spPr>
          <a:xfrm>
            <a:off x="3840480" y="4251960"/>
            <a:ext cx="164592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96,096</a:t>
            </a:r>
            <a:endParaRPr lang="en-US" sz="2000" dirty="0"/>
          </a:p>
        </p:txBody>
      </p:sp>
      <p:sp>
        <p:nvSpPr>
          <p:cNvPr id="26" name="Text 24"/>
          <p:cNvSpPr/>
          <p:nvPr/>
        </p:nvSpPr>
        <p:spPr>
          <a:xfrm>
            <a:off x="3840480" y="4663440"/>
            <a:ext cx="1645920" cy="256032"/>
          </a:xfrm>
          <a:prstGeom prst="rect">
            <a:avLst/>
          </a:prstGeom>
          <a:noFill/>
          <a:ln/>
        </p:spPr>
        <p:txBody>
          <a:bodyPr wrap="square" lIns="0" tIns="0" rIns="0" bIns="0" rtlCol="0" anchor="ctr"/>
          <a:lstStyle/>
          <a:p>
            <a:pPr marL="0" indent="0" algn="ctr">
              <a:buNone/>
            </a:pPr>
            <a:r>
              <a:rPr lang="en-US" sz="900" dirty="0">
                <a:solidFill>
                  <a:srgbClr val="FCD34D"/>
                </a:solidFill>
                <a:latin typeface="Calibri" pitchFamily="34" charset="0"/>
                <a:ea typeface="Calibri" pitchFamily="34" charset="-122"/>
                <a:cs typeface="Calibri" pitchFamily="34" charset="-120"/>
              </a:rPr>
              <a:t>Customers</a:t>
            </a:r>
            <a:endParaRPr lang="en-US" sz="900" dirty="0"/>
          </a:p>
        </p:txBody>
      </p:sp>
      <p:sp>
        <p:nvSpPr>
          <p:cNvPr id="27" name="Text 25"/>
          <p:cNvSpPr/>
          <p:nvPr/>
        </p:nvSpPr>
        <p:spPr>
          <a:xfrm>
            <a:off x="5623560" y="4251960"/>
            <a:ext cx="164592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R$ 205.86</a:t>
            </a:r>
            <a:endParaRPr lang="en-US" sz="2000" dirty="0"/>
          </a:p>
        </p:txBody>
      </p:sp>
      <p:sp>
        <p:nvSpPr>
          <p:cNvPr id="28" name="Text 26"/>
          <p:cNvSpPr/>
          <p:nvPr/>
        </p:nvSpPr>
        <p:spPr>
          <a:xfrm>
            <a:off x="5623560" y="4663440"/>
            <a:ext cx="1645920" cy="256032"/>
          </a:xfrm>
          <a:prstGeom prst="rect">
            <a:avLst/>
          </a:prstGeom>
          <a:noFill/>
          <a:ln/>
        </p:spPr>
        <p:txBody>
          <a:bodyPr wrap="square" lIns="0" tIns="0" rIns="0" bIns="0" rtlCol="0" anchor="ctr"/>
          <a:lstStyle/>
          <a:p>
            <a:pPr marL="0" indent="0" algn="ctr">
              <a:buNone/>
            </a:pPr>
            <a:r>
              <a:rPr lang="en-US" sz="900" dirty="0">
                <a:solidFill>
                  <a:srgbClr val="FCD34D"/>
                </a:solidFill>
                <a:latin typeface="Calibri" pitchFamily="34" charset="0"/>
                <a:ea typeface="Calibri" pitchFamily="34" charset="-122"/>
                <a:cs typeface="Calibri" pitchFamily="34" charset="-120"/>
              </a:rPr>
              <a:t>Avg Order Value</a:t>
            </a:r>
            <a:endParaRPr lang="en-US" sz="900" dirty="0"/>
          </a:p>
        </p:txBody>
      </p:sp>
      <p:sp>
        <p:nvSpPr>
          <p:cNvPr id="29" name="Text 27"/>
          <p:cNvSpPr/>
          <p:nvPr/>
        </p:nvSpPr>
        <p:spPr>
          <a:xfrm>
            <a:off x="7406640" y="4251960"/>
            <a:ext cx="164592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12.02 Days</a:t>
            </a:r>
            <a:endParaRPr lang="en-US" sz="2000" dirty="0"/>
          </a:p>
        </p:txBody>
      </p:sp>
      <p:sp>
        <p:nvSpPr>
          <p:cNvPr id="30" name="Text 28"/>
          <p:cNvSpPr/>
          <p:nvPr/>
        </p:nvSpPr>
        <p:spPr>
          <a:xfrm>
            <a:off x="7406640" y="4663440"/>
            <a:ext cx="1645920" cy="256032"/>
          </a:xfrm>
          <a:prstGeom prst="rect">
            <a:avLst/>
          </a:prstGeom>
          <a:noFill/>
          <a:ln/>
        </p:spPr>
        <p:txBody>
          <a:bodyPr wrap="square" lIns="0" tIns="0" rIns="0" bIns="0" rtlCol="0" anchor="ctr"/>
          <a:lstStyle/>
          <a:p>
            <a:pPr marL="0" indent="0" algn="ctr">
              <a:buNone/>
            </a:pPr>
            <a:r>
              <a:rPr lang="en-US" sz="900" dirty="0">
                <a:solidFill>
                  <a:srgbClr val="FCD34D"/>
                </a:solidFill>
                <a:latin typeface="Calibri" pitchFamily="34" charset="0"/>
                <a:ea typeface="Calibri" pitchFamily="34" charset="-122"/>
                <a:cs typeface="Calibri" pitchFamily="34" charset="-120"/>
              </a:rPr>
              <a:t>Avg Delivery Time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65760" y="0"/>
            <a:ext cx="822960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04  |  KPI ANALYSIS</a:t>
            </a:r>
            <a:endParaRPr lang="en-US" sz="2000" dirty="0"/>
          </a:p>
        </p:txBody>
      </p:sp>
      <p:sp>
        <p:nvSpPr>
          <p:cNvPr id="4" name="Shape 2"/>
          <p:cNvSpPr/>
          <p:nvPr/>
        </p:nvSpPr>
        <p:spPr>
          <a:xfrm>
            <a:off x="228600" y="777240"/>
            <a:ext cx="1572768" cy="960120"/>
          </a:xfrm>
          <a:prstGeom prst="rect">
            <a:avLst/>
          </a:prstGeom>
          <a:solidFill>
            <a:srgbClr val="0D9488"/>
          </a:solidFill>
          <a:ln w="12700">
            <a:solidFill>
              <a:srgbClr val="0D9488"/>
            </a:solidFill>
            <a:prstDash val="solid"/>
          </a:ln>
        </p:spPr>
      </p:sp>
      <p:sp>
        <p:nvSpPr>
          <p:cNvPr id="5" name="Text 3"/>
          <p:cNvSpPr/>
          <p:nvPr/>
        </p:nvSpPr>
        <p:spPr>
          <a:xfrm>
            <a:off x="228600" y="804672"/>
            <a:ext cx="157276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R$ 20.47M</a:t>
            </a:r>
            <a:endParaRPr lang="en-US" sz="1800" dirty="0"/>
          </a:p>
        </p:txBody>
      </p:sp>
      <p:sp>
        <p:nvSpPr>
          <p:cNvPr id="6" name="Text 4"/>
          <p:cNvSpPr/>
          <p:nvPr/>
        </p:nvSpPr>
        <p:spPr>
          <a:xfrm>
            <a:off x="228600" y="1261872"/>
            <a:ext cx="1572768"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Total Revenue</a:t>
            </a:r>
            <a:endParaRPr lang="en-US" sz="900" dirty="0"/>
          </a:p>
        </p:txBody>
      </p:sp>
      <p:sp>
        <p:nvSpPr>
          <p:cNvPr id="7" name="Text 5"/>
          <p:cNvSpPr/>
          <p:nvPr/>
        </p:nvSpPr>
        <p:spPr>
          <a:xfrm>
            <a:off x="228600" y="1490472"/>
            <a:ext cx="1572768" cy="201168"/>
          </a:xfrm>
          <a:prstGeom prst="rect">
            <a:avLst/>
          </a:prstGeom>
          <a:noFill/>
          <a:ln/>
        </p:spPr>
        <p:txBody>
          <a:bodyPr wrap="square" lIns="0" tIns="0" rIns="0" bIns="0" rtlCol="0" anchor="ctr"/>
          <a:lstStyle/>
          <a:p>
            <a:pPr marL="0" indent="0" algn="ctr">
              <a:buNone/>
            </a:pPr>
            <a:r>
              <a:rPr lang="en-US" sz="750" i="1" dirty="0">
                <a:solidFill>
                  <a:srgbClr val="FFFFFF"/>
                </a:solidFill>
                <a:latin typeface="Calibri" pitchFamily="34" charset="0"/>
                <a:ea typeface="Calibri" pitchFamily="34" charset="-122"/>
                <a:cs typeface="Calibri" pitchFamily="34" charset="-120"/>
              </a:rPr>
              <a:t>2016 – 2018</a:t>
            </a:r>
            <a:endParaRPr lang="en-US" sz="750" dirty="0"/>
          </a:p>
        </p:txBody>
      </p:sp>
      <p:sp>
        <p:nvSpPr>
          <p:cNvPr id="8" name="Shape 6"/>
          <p:cNvSpPr/>
          <p:nvPr/>
        </p:nvSpPr>
        <p:spPr>
          <a:xfrm>
            <a:off x="1984248" y="777240"/>
            <a:ext cx="1572768" cy="960120"/>
          </a:xfrm>
          <a:prstGeom prst="rect">
            <a:avLst/>
          </a:prstGeom>
          <a:solidFill>
            <a:srgbClr val="1B2A4A"/>
          </a:solidFill>
          <a:ln w="12700">
            <a:solidFill>
              <a:srgbClr val="1B2A4A"/>
            </a:solidFill>
            <a:prstDash val="solid"/>
          </a:ln>
        </p:spPr>
      </p:sp>
      <p:sp>
        <p:nvSpPr>
          <p:cNvPr id="9" name="Text 7"/>
          <p:cNvSpPr/>
          <p:nvPr/>
        </p:nvSpPr>
        <p:spPr>
          <a:xfrm>
            <a:off x="1984248" y="804672"/>
            <a:ext cx="1572768"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99,441</a:t>
            </a:r>
            <a:endParaRPr lang="en-US" sz="1800" dirty="0"/>
          </a:p>
        </p:txBody>
      </p:sp>
      <p:sp>
        <p:nvSpPr>
          <p:cNvPr id="10" name="Text 8"/>
          <p:cNvSpPr/>
          <p:nvPr/>
        </p:nvSpPr>
        <p:spPr>
          <a:xfrm>
            <a:off x="1984248" y="1261872"/>
            <a:ext cx="1572768"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Total Orders</a:t>
            </a:r>
            <a:endParaRPr lang="en-US" sz="900" dirty="0"/>
          </a:p>
        </p:txBody>
      </p:sp>
      <p:sp>
        <p:nvSpPr>
          <p:cNvPr id="11" name="Text 9"/>
          <p:cNvSpPr/>
          <p:nvPr/>
        </p:nvSpPr>
        <p:spPr>
          <a:xfrm>
            <a:off x="1984248" y="1490472"/>
            <a:ext cx="1572768" cy="201168"/>
          </a:xfrm>
          <a:prstGeom prst="rect">
            <a:avLst/>
          </a:prstGeom>
          <a:noFill/>
          <a:ln/>
        </p:spPr>
        <p:txBody>
          <a:bodyPr wrap="square" lIns="0" tIns="0" rIns="0" bIns="0" rtlCol="0" anchor="ctr"/>
          <a:lstStyle/>
          <a:p>
            <a:pPr marL="0" indent="0" algn="ctr">
              <a:buNone/>
            </a:pPr>
            <a:r>
              <a:rPr lang="en-US" sz="750" i="1" dirty="0">
                <a:solidFill>
                  <a:srgbClr val="FFFFFF"/>
                </a:solidFill>
                <a:latin typeface="Calibri" pitchFamily="34" charset="0"/>
                <a:ea typeface="Calibri" pitchFamily="34" charset="-122"/>
                <a:cs typeface="Calibri" pitchFamily="34" charset="-120"/>
              </a:rPr>
              <a:t>Across all states</a:t>
            </a:r>
            <a:endParaRPr lang="en-US" sz="750" dirty="0"/>
          </a:p>
        </p:txBody>
      </p:sp>
      <p:sp>
        <p:nvSpPr>
          <p:cNvPr id="12" name="Shape 10"/>
          <p:cNvSpPr/>
          <p:nvPr/>
        </p:nvSpPr>
        <p:spPr>
          <a:xfrm>
            <a:off x="3739896" y="777240"/>
            <a:ext cx="1572768" cy="960120"/>
          </a:xfrm>
          <a:prstGeom prst="rect">
            <a:avLst/>
          </a:prstGeom>
          <a:solidFill>
            <a:srgbClr val="F59E0B"/>
          </a:solidFill>
          <a:ln w="12700">
            <a:solidFill>
              <a:srgbClr val="F59E0B"/>
            </a:solidFill>
            <a:prstDash val="solid"/>
          </a:ln>
        </p:spPr>
      </p:sp>
      <p:sp>
        <p:nvSpPr>
          <p:cNvPr id="13" name="Text 11"/>
          <p:cNvSpPr/>
          <p:nvPr/>
        </p:nvSpPr>
        <p:spPr>
          <a:xfrm>
            <a:off x="3739896" y="804672"/>
            <a:ext cx="157276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96,096</a:t>
            </a:r>
            <a:endParaRPr lang="en-US" sz="1800" dirty="0"/>
          </a:p>
        </p:txBody>
      </p:sp>
      <p:sp>
        <p:nvSpPr>
          <p:cNvPr id="14" name="Text 12"/>
          <p:cNvSpPr/>
          <p:nvPr/>
        </p:nvSpPr>
        <p:spPr>
          <a:xfrm>
            <a:off x="3739896" y="1261872"/>
            <a:ext cx="1572768"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Customers</a:t>
            </a:r>
            <a:endParaRPr lang="en-US" sz="900" dirty="0"/>
          </a:p>
        </p:txBody>
      </p:sp>
      <p:sp>
        <p:nvSpPr>
          <p:cNvPr id="15" name="Text 13"/>
          <p:cNvSpPr/>
          <p:nvPr/>
        </p:nvSpPr>
        <p:spPr>
          <a:xfrm>
            <a:off x="3739896" y="1490472"/>
            <a:ext cx="1572768" cy="201168"/>
          </a:xfrm>
          <a:prstGeom prst="rect">
            <a:avLst/>
          </a:prstGeom>
          <a:noFill/>
          <a:ln/>
        </p:spPr>
        <p:txBody>
          <a:bodyPr wrap="square" lIns="0" tIns="0" rIns="0" bIns="0" rtlCol="0" anchor="ctr"/>
          <a:lstStyle/>
          <a:p>
            <a:pPr marL="0" indent="0" algn="ctr">
              <a:buNone/>
            </a:pPr>
            <a:r>
              <a:rPr lang="en-US" sz="750" i="1" dirty="0">
                <a:solidFill>
                  <a:srgbClr val="FFFFFF"/>
                </a:solidFill>
                <a:latin typeface="Calibri" pitchFamily="34" charset="0"/>
                <a:ea typeface="Calibri" pitchFamily="34" charset="-122"/>
                <a:cs typeface="Calibri" pitchFamily="34" charset="-120"/>
              </a:rPr>
              <a:t>Total unique customers</a:t>
            </a:r>
            <a:endParaRPr lang="en-US" sz="750" dirty="0"/>
          </a:p>
        </p:txBody>
      </p:sp>
      <p:sp>
        <p:nvSpPr>
          <p:cNvPr id="16" name="Shape 14"/>
          <p:cNvSpPr/>
          <p:nvPr/>
        </p:nvSpPr>
        <p:spPr>
          <a:xfrm>
            <a:off x="5495544" y="777240"/>
            <a:ext cx="1572768" cy="960120"/>
          </a:xfrm>
          <a:prstGeom prst="rect">
            <a:avLst/>
          </a:prstGeom>
          <a:solidFill>
            <a:srgbClr val="DC2626"/>
          </a:solidFill>
          <a:ln w="12700">
            <a:solidFill>
              <a:srgbClr val="DC2626"/>
            </a:solidFill>
            <a:prstDash val="solid"/>
          </a:ln>
        </p:spPr>
        <p:txBody>
          <a:bodyPr/>
          <a:lstStyle/>
          <a:p>
            <a:endParaRPr lang="en-IN" dirty="0"/>
          </a:p>
        </p:txBody>
      </p:sp>
      <p:sp>
        <p:nvSpPr>
          <p:cNvPr id="17" name="Text 15"/>
          <p:cNvSpPr/>
          <p:nvPr/>
        </p:nvSpPr>
        <p:spPr>
          <a:xfrm>
            <a:off x="5495544" y="804672"/>
            <a:ext cx="157276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R$ 205.86</a:t>
            </a:r>
            <a:endParaRPr lang="en-US" sz="1800" dirty="0"/>
          </a:p>
        </p:txBody>
      </p:sp>
      <p:sp>
        <p:nvSpPr>
          <p:cNvPr id="18" name="Text 16"/>
          <p:cNvSpPr/>
          <p:nvPr/>
        </p:nvSpPr>
        <p:spPr>
          <a:xfrm>
            <a:off x="5495544" y="1261872"/>
            <a:ext cx="1572768"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Average Order Value</a:t>
            </a:r>
            <a:endParaRPr lang="en-US" sz="900" dirty="0"/>
          </a:p>
        </p:txBody>
      </p:sp>
      <p:sp>
        <p:nvSpPr>
          <p:cNvPr id="19" name="Text 17"/>
          <p:cNvSpPr/>
          <p:nvPr/>
        </p:nvSpPr>
        <p:spPr>
          <a:xfrm>
            <a:off x="5495544" y="1490472"/>
            <a:ext cx="1572768" cy="201168"/>
          </a:xfrm>
          <a:prstGeom prst="rect">
            <a:avLst/>
          </a:prstGeom>
          <a:noFill/>
          <a:ln/>
        </p:spPr>
        <p:txBody>
          <a:bodyPr wrap="square" lIns="0" tIns="0" rIns="0" bIns="0" rtlCol="0" anchor="ctr"/>
          <a:lstStyle/>
          <a:p>
            <a:pPr marL="0" indent="0" algn="ctr">
              <a:buNone/>
            </a:pPr>
            <a:r>
              <a:rPr lang="en-US" sz="750" i="1" dirty="0">
                <a:solidFill>
                  <a:srgbClr val="FFFFFF"/>
                </a:solidFill>
                <a:latin typeface="Calibri" pitchFamily="34" charset="0"/>
                <a:ea typeface="Calibri" pitchFamily="34" charset="-122"/>
                <a:cs typeface="Calibri" pitchFamily="34" charset="-120"/>
              </a:rPr>
              <a:t>Customer spendings per order</a:t>
            </a:r>
            <a:endParaRPr lang="en-US" sz="750" dirty="0"/>
          </a:p>
        </p:txBody>
      </p:sp>
      <p:sp>
        <p:nvSpPr>
          <p:cNvPr id="20" name="Shape 18"/>
          <p:cNvSpPr/>
          <p:nvPr/>
        </p:nvSpPr>
        <p:spPr>
          <a:xfrm>
            <a:off x="7251192" y="777240"/>
            <a:ext cx="1572768" cy="960120"/>
          </a:xfrm>
          <a:prstGeom prst="rect">
            <a:avLst/>
          </a:prstGeom>
          <a:solidFill>
            <a:srgbClr val="7C3AED"/>
          </a:solidFill>
          <a:ln w="12700">
            <a:solidFill>
              <a:srgbClr val="7C3AED"/>
            </a:solidFill>
            <a:prstDash val="solid"/>
          </a:ln>
        </p:spPr>
        <p:txBody>
          <a:bodyPr/>
          <a:lstStyle/>
          <a:p>
            <a:endParaRPr lang="en-IN" dirty="0"/>
          </a:p>
        </p:txBody>
      </p:sp>
      <p:sp>
        <p:nvSpPr>
          <p:cNvPr id="21" name="Text 19"/>
          <p:cNvSpPr/>
          <p:nvPr/>
        </p:nvSpPr>
        <p:spPr>
          <a:xfrm>
            <a:off x="7251192" y="804672"/>
            <a:ext cx="157276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12.02 Days</a:t>
            </a:r>
            <a:endParaRPr lang="en-US" sz="1800" dirty="0"/>
          </a:p>
        </p:txBody>
      </p:sp>
      <p:sp>
        <p:nvSpPr>
          <p:cNvPr id="22" name="Text 20"/>
          <p:cNvSpPr/>
          <p:nvPr/>
        </p:nvSpPr>
        <p:spPr>
          <a:xfrm>
            <a:off x="7251192" y="1261872"/>
            <a:ext cx="1572768"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Average Delivery Time</a:t>
            </a:r>
            <a:endParaRPr lang="en-US" sz="900" dirty="0"/>
          </a:p>
        </p:txBody>
      </p:sp>
      <p:sp>
        <p:nvSpPr>
          <p:cNvPr id="23" name="Text 21"/>
          <p:cNvSpPr/>
          <p:nvPr/>
        </p:nvSpPr>
        <p:spPr>
          <a:xfrm>
            <a:off x="7251192" y="1490472"/>
            <a:ext cx="1572768" cy="201168"/>
          </a:xfrm>
          <a:prstGeom prst="rect">
            <a:avLst/>
          </a:prstGeom>
          <a:noFill/>
          <a:ln/>
        </p:spPr>
        <p:txBody>
          <a:bodyPr wrap="square" lIns="0" tIns="0" rIns="0" bIns="0" rtlCol="0" anchor="ctr"/>
          <a:lstStyle/>
          <a:p>
            <a:pPr marL="0" indent="0" algn="ctr">
              <a:buNone/>
            </a:pPr>
            <a:r>
              <a:rPr lang="en-US" sz="750" i="1" dirty="0">
                <a:solidFill>
                  <a:srgbClr val="FFFFFF"/>
                </a:solidFill>
                <a:latin typeface="Calibri" pitchFamily="34" charset="0"/>
                <a:ea typeface="Calibri" pitchFamily="34" charset="-122"/>
                <a:cs typeface="Calibri" pitchFamily="34" charset="-120"/>
              </a:rPr>
              <a:t>Average Days between purchase</a:t>
            </a:r>
          </a:p>
          <a:p>
            <a:pPr marL="0" indent="0" algn="ctr">
              <a:buNone/>
            </a:pPr>
            <a:r>
              <a:rPr lang="en-US" sz="750" i="1" dirty="0">
                <a:solidFill>
                  <a:srgbClr val="FFFFFF"/>
                </a:solidFill>
                <a:latin typeface="Calibri" pitchFamily="34" charset="0"/>
                <a:ea typeface="Calibri" pitchFamily="34" charset="-122"/>
                <a:cs typeface="Calibri" pitchFamily="34" charset="-120"/>
              </a:rPr>
              <a:t>and delivery</a:t>
            </a:r>
            <a:endParaRPr lang="en-US" sz="750" dirty="0"/>
          </a:p>
        </p:txBody>
      </p:sp>
      <p:sp>
        <p:nvSpPr>
          <p:cNvPr id="24" name="Shape 22"/>
          <p:cNvSpPr/>
          <p:nvPr/>
        </p:nvSpPr>
        <p:spPr>
          <a:xfrm>
            <a:off x="228600" y="1920240"/>
            <a:ext cx="54864" cy="502920"/>
          </a:xfrm>
          <a:prstGeom prst="rect">
            <a:avLst/>
          </a:prstGeom>
          <a:solidFill>
            <a:srgbClr val="0D9488"/>
          </a:solidFill>
          <a:ln w="12700">
            <a:solidFill>
              <a:srgbClr val="0D9488"/>
            </a:solidFill>
            <a:prstDash val="solid"/>
          </a:ln>
        </p:spPr>
      </p:sp>
      <p:sp>
        <p:nvSpPr>
          <p:cNvPr id="25" name="Text 23"/>
          <p:cNvSpPr/>
          <p:nvPr/>
        </p:nvSpPr>
        <p:spPr>
          <a:xfrm>
            <a:off x="384048" y="1920240"/>
            <a:ext cx="3931920" cy="219456"/>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Monthly Revenue Trend</a:t>
            </a:r>
            <a:endParaRPr lang="en-US" sz="1050" dirty="0"/>
          </a:p>
        </p:txBody>
      </p:sp>
      <p:sp>
        <p:nvSpPr>
          <p:cNvPr id="26" name="Text 24"/>
          <p:cNvSpPr/>
          <p:nvPr/>
        </p:nvSpPr>
        <p:spPr>
          <a:xfrm>
            <a:off x="384048" y="2139696"/>
            <a:ext cx="3931920" cy="365760"/>
          </a:xfrm>
          <a:prstGeom prst="rect">
            <a:avLst/>
          </a:prstGeom>
          <a:noFill/>
          <a:ln/>
        </p:spPr>
        <p:txBody>
          <a:bodyPr wrap="square" lIns="0" tIns="0" rIns="0" bIns="0" rtlCol="0" anchor="ctr"/>
          <a:lstStyle/>
          <a:p>
            <a:r>
              <a:rPr lang="en-IN" sz="900" dirty="0"/>
              <a:t>Some months experience noticeable peaks, indicating higher customer purchasing activity, likely due to promotions or festive seasons.</a:t>
            </a:r>
            <a:endParaRPr lang="en-US" sz="900" dirty="0"/>
          </a:p>
        </p:txBody>
      </p:sp>
      <p:sp>
        <p:nvSpPr>
          <p:cNvPr id="27" name="Shape 25"/>
          <p:cNvSpPr/>
          <p:nvPr/>
        </p:nvSpPr>
        <p:spPr>
          <a:xfrm>
            <a:off x="228600" y="2651760"/>
            <a:ext cx="54864" cy="502920"/>
          </a:xfrm>
          <a:prstGeom prst="rect">
            <a:avLst/>
          </a:prstGeom>
          <a:solidFill>
            <a:srgbClr val="0D9488"/>
          </a:solidFill>
          <a:ln w="12700">
            <a:solidFill>
              <a:srgbClr val="0D9488"/>
            </a:solidFill>
            <a:prstDash val="solid"/>
          </a:ln>
        </p:spPr>
      </p:sp>
      <p:sp>
        <p:nvSpPr>
          <p:cNvPr id="28" name="Text 26"/>
          <p:cNvSpPr/>
          <p:nvPr/>
        </p:nvSpPr>
        <p:spPr>
          <a:xfrm>
            <a:off x="384048" y="2651760"/>
            <a:ext cx="3931920" cy="219456"/>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Revenue by State</a:t>
            </a:r>
            <a:endParaRPr lang="en-US" sz="1050" dirty="0"/>
          </a:p>
        </p:txBody>
      </p:sp>
      <p:sp>
        <p:nvSpPr>
          <p:cNvPr id="29" name="Text 27"/>
          <p:cNvSpPr/>
          <p:nvPr/>
        </p:nvSpPr>
        <p:spPr>
          <a:xfrm>
            <a:off x="384048" y="2871216"/>
            <a:ext cx="3931920" cy="365760"/>
          </a:xfrm>
          <a:prstGeom prst="rect">
            <a:avLst/>
          </a:prstGeom>
          <a:noFill/>
          <a:ln/>
        </p:spPr>
        <p:txBody>
          <a:bodyPr wrap="square" lIns="0" tIns="0" rIns="0" bIns="0" rtlCol="0" anchor="ctr"/>
          <a:lstStyle/>
          <a:p>
            <a:r>
              <a:rPr lang="en-IN" sz="900" dirty="0"/>
              <a:t>States such as </a:t>
            </a:r>
            <a:r>
              <a:rPr lang="en-IN" sz="900" b="1" dirty="0"/>
              <a:t>São Paulo (SP)</a:t>
            </a:r>
            <a:r>
              <a:rPr lang="en-IN" sz="900" dirty="0"/>
              <a:t> contribute the highest share of sales.</a:t>
            </a:r>
            <a:endParaRPr lang="en-US" sz="900" dirty="0"/>
          </a:p>
        </p:txBody>
      </p:sp>
      <p:sp>
        <p:nvSpPr>
          <p:cNvPr id="30" name="Shape 28"/>
          <p:cNvSpPr/>
          <p:nvPr/>
        </p:nvSpPr>
        <p:spPr>
          <a:xfrm>
            <a:off x="228600" y="3383280"/>
            <a:ext cx="54864" cy="502920"/>
          </a:xfrm>
          <a:prstGeom prst="rect">
            <a:avLst/>
          </a:prstGeom>
          <a:solidFill>
            <a:srgbClr val="0D9488"/>
          </a:solidFill>
          <a:ln w="12700">
            <a:solidFill>
              <a:srgbClr val="0D9488"/>
            </a:solidFill>
            <a:prstDash val="solid"/>
          </a:ln>
        </p:spPr>
      </p:sp>
      <p:sp>
        <p:nvSpPr>
          <p:cNvPr id="31" name="Text 29"/>
          <p:cNvSpPr/>
          <p:nvPr/>
        </p:nvSpPr>
        <p:spPr>
          <a:xfrm>
            <a:off x="384048" y="3383280"/>
            <a:ext cx="3931920" cy="219456"/>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Product Categories</a:t>
            </a:r>
            <a:endParaRPr lang="en-US" sz="1050" dirty="0"/>
          </a:p>
        </p:txBody>
      </p:sp>
      <p:sp>
        <p:nvSpPr>
          <p:cNvPr id="32" name="Text 30"/>
          <p:cNvSpPr/>
          <p:nvPr/>
        </p:nvSpPr>
        <p:spPr>
          <a:xfrm>
            <a:off x="384048" y="3602736"/>
            <a:ext cx="3931920" cy="365760"/>
          </a:xfrm>
          <a:prstGeom prst="rect">
            <a:avLst/>
          </a:prstGeom>
          <a:noFill/>
          <a:ln/>
        </p:spPr>
        <p:txBody>
          <a:bodyPr wrap="square" lIns="0" tIns="0" rIns="0" bIns="0" rtlCol="0" anchor="ctr"/>
          <a:lstStyle/>
          <a:p>
            <a:r>
              <a:rPr lang="en-IN" sz="900" dirty="0"/>
              <a:t>Best-selling categories should remain inventory priorities and receive additional marketing investment.</a:t>
            </a:r>
            <a:endParaRPr lang="en-US" sz="900" dirty="0"/>
          </a:p>
        </p:txBody>
      </p:sp>
      <p:sp>
        <p:nvSpPr>
          <p:cNvPr id="33" name="Shape 31"/>
          <p:cNvSpPr/>
          <p:nvPr/>
        </p:nvSpPr>
        <p:spPr>
          <a:xfrm>
            <a:off x="228600" y="4114800"/>
            <a:ext cx="54864" cy="502920"/>
          </a:xfrm>
          <a:prstGeom prst="rect">
            <a:avLst/>
          </a:prstGeom>
          <a:solidFill>
            <a:srgbClr val="0D9488"/>
          </a:solidFill>
          <a:ln w="12700">
            <a:solidFill>
              <a:srgbClr val="0D9488"/>
            </a:solidFill>
            <a:prstDash val="solid"/>
          </a:ln>
        </p:spPr>
      </p:sp>
      <p:sp>
        <p:nvSpPr>
          <p:cNvPr id="34" name="Text 32"/>
          <p:cNvSpPr/>
          <p:nvPr/>
        </p:nvSpPr>
        <p:spPr>
          <a:xfrm>
            <a:off x="384048" y="4114800"/>
            <a:ext cx="3931920" cy="219456"/>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Payment Method Distribution</a:t>
            </a:r>
            <a:endParaRPr lang="en-US" sz="1050" dirty="0"/>
          </a:p>
        </p:txBody>
      </p:sp>
      <p:sp>
        <p:nvSpPr>
          <p:cNvPr id="35" name="Text 33"/>
          <p:cNvSpPr/>
          <p:nvPr/>
        </p:nvSpPr>
        <p:spPr>
          <a:xfrm>
            <a:off x="384048" y="4334256"/>
            <a:ext cx="3931920" cy="365760"/>
          </a:xfrm>
          <a:prstGeom prst="rect">
            <a:avLst/>
          </a:prstGeom>
          <a:noFill/>
          <a:ln/>
        </p:spPr>
        <p:txBody>
          <a:bodyPr wrap="square" lIns="0" tIns="0" rIns="0" bIns="0" rtlCol="0" anchor="ctr"/>
          <a:lstStyle/>
          <a:p>
            <a:r>
              <a:rPr lang="en-IN" sz="900" dirty="0"/>
              <a:t>Understanding payment preferences helps optimize checkout and payment options. </a:t>
            </a:r>
          </a:p>
        </p:txBody>
      </p:sp>
      <p:sp>
        <p:nvSpPr>
          <p:cNvPr id="36" name="Shape 34"/>
          <p:cNvSpPr/>
          <p:nvPr/>
        </p:nvSpPr>
        <p:spPr>
          <a:xfrm>
            <a:off x="4663440" y="1920240"/>
            <a:ext cx="54864" cy="502920"/>
          </a:xfrm>
          <a:prstGeom prst="rect">
            <a:avLst/>
          </a:prstGeom>
          <a:solidFill>
            <a:srgbClr val="F59E0B"/>
          </a:solidFill>
          <a:ln w="12700">
            <a:solidFill>
              <a:srgbClr val="F59E0B"/>
            </a:solidFill>
            <a:prstDash val="solid"/>
          </a:ln>
        </p:spPr>
      </p:sp>
      <p:sp>
        <p:nvSpPr>
          <p:cNvPr id="37" name="Text 35"/>
          <p:cNvSpPr/>
          <p:nvPr/>
        </p:nvSpPr>
        <p:spPr>
          <a:xfrm>
            <a:off x="4818888" y="1920240"/>
            <a:ext cx="4023360" cy="219456"/>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Customer Distribution by State</a:t>
            </a:r>
            <a:endParaRPr lang="en-US" sz="1050" dirty="0"/>
          </a:p>
        </p:txBody>
      </p:sp>
      <p:sp>
        <p:nvSpPr>
          <p:cNvPr id="38" name="Text 36"/>
          <p:cNvSpPr/>
          <p:nvPr/>
        </p:nvSpPr>
        <p:spPr>
          <a:xfrm>
            <a:off x="4818888" y="2139696"/>
            <a:ext cx="4023360" cy="365760"/>
          </a:xfrm>
          <a:prstGeom prst="rect">
            <a:avLst/>
          </a:prstGeom>
          <a:noFill/>
          <a:ln/>
        </p:spPr>
        <p:txBody>
          <a:bodyPr wrap="square" lIns="0" tIns="0" rIns="0" bIns="0" rtlCol="0" anchor="ctr"/>
          <a:lstStyle/>
          <a:p>
            <a:r>
              <a:rPr lang="en-IN" sz="900" dirty="0"/>
              <a:t>Highly populated states contribute the largest customer base.</a:t>
            </a:r>
            <a:endParaRPr lang="en-US" sz="900" dirty="0"/>
          </a:p>
        </p:txBody>
      </p:sp>
      <p:sp>
        <p:nvSpPr>
          <p:cNvPr id="39" name="Shape 37"/>
          <p:cNvSpPr/>
          <p:nvPr/>
        </p:nvSpPr>
        <p:spPr>
          <a:xfrm>
            <a:off x="4663440" y="2651760"/>
            <a:ext cx="54864" cy="502920"/>
          </a:xfrm>
          <a:prstGeom prst="rect">
            <a:avLst/>
          </a:prstGeom>
          <a:solidFill>
            <a:srgbClr val="F59E0B"/>
          </a:solidFill>
          <a:ln w="12700">
            <a:solidFill>
              <a:srgbClr val="F59E0B"/>
            </a:solidFill>
            <a:prstDash val="solid"/>
          </a:ln>
        </p:spPr>
      </p:sp>
      <p:sp>
        <p:nvSpPr>
          <p:cNvPr id="40" name="Text 38"/>
          <p:cNvSpPr/>
          <p:nvPr/>
        </p:nvSpPr>
        <p:spPr>
          <a:xfrm>
            <a:off x="4818888" y="2651760"/>
            <a:ext cx="4023360" cy="219456"/>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Delivery Time Distribution</a:t>
            </a:r>
            <a:endParaRPr lang="en-US" sz="1050" dirty="0"/>
          </a:p>
        </p:txBody>
      </p:sp>
      <p:sp>
        <p:nvSpPr>
          <p:cNvPr id="41" name="Text 39"/>
          <p:cNvSpPr/>
          <p:nvPr/>
        </p:nvSpPr>
        <p:spPr>
          <a:xfrm>
            <a:off x="4818888" y="2871216"/>
            <a:ext cx="4023360" cy="365760"/>
          </a:xfrm>
          <a:prstGeom prst="rect">
            <a:avLst/>
          </a:prstGeom>
          <a:noFill/>
          <a:ln/>
        </p:spPr>
        <p:txBody>
          <a:bodyPr wrap="square" lIns="0" tIns="0" rIns="0" bIns="0" rtlCol="0" anchor="ctr"/>
          <a:lstStyle/>
          <a:p>
            <a:r>
              <a:rPr lang="en-IN" sz="900" dirty="0"/>
              <a:t>Only a small percentage experience long delivery times.</a:t>
            </a:r>
            <a:endParaRPr lang="en-US" sz="900" dirty="0"/>
          </a:p>
        </p:txBody>
      </p:sp>
      <p:sp>
        <p:nvSpPr>
          <p:cNvPr id="42" name="Shape 40"/>
          <p:cNvSpPr/>
          <p:nvPr/>
        </p:nvSpPr>
        <p:spPr>
          <a:xfrm>
            <a:off x="4663440" y="3383280"/>
            <a:ext cx="54864" cy="502920"/>
          </a:xfrm>
          <a:prstGeom prst="rect">
            <a:avLst/>
          </a:prstGeom>
          <a:solidFill>
            <a:srgbClr val="F59E0B"/>
          </a:solidFill>
          <a:ln w="12700">
            <a:solidFill>
              <a:srgbClr val="F59E0B"/>
            </a:solidFill>
            <a:prstDash val="solid"/>
          </a:ln>
        </p:spPr>
      </p:sp>
      <p:sp>
        <p:nvSpPr>
          <p:cNvPr id="43" name="Text 41"/>
          <p:cNvSpPr/>
          <p:nvPr/>
        </p:nvSpPr>
        <p:spPr>
          <a:xfrm>
            <a:off x="4818888" y="3383280"/>
            <a:ext cx="4023360" cy="219456"/>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Orders by Status</a:t>
            </a:r>
            <a:endParaRPr lang="en-US" sz="1050" dirty="0"/>
          </a:p>
        </p:txBody>
      </p:sp>
      <p:sp>
        <p:nvSpPr>
          <p:cNvPr id="44" name="Text 42"/>
          <p:cNvSpPr/>
          <p:nvPr/>
        </p:nvSpPr>
        <p:spPr>
          <a:xfrm>
            <a:off x="4818888" y="3602736"/>
            <a:ext cx="4023360" cy="365760"/>
          </a:xfrm>
          <a:prstGeom prst="rect">
            <a:avLst/>
          </a:prstGeom>
          <a:noFill/>
          <a:ln/>
        </p:spPr>
        <p:txBody>
          <a:bodyPr wrap="square" lIns="0" tIns="0" rIns="0" bIns="0" rtlCol="0" anchor="ctr"/>
          <a:lstStyle/>
          <a:p>
            <a:r>
              <a:rPr lang="en-US" sz="900" dirty="0">
                <a:solidFill>
                  <a:srgbClr val="334155"/>
                </a:solidFill>
                <a:latin typeface="Calibri" pitchFamily="34" charset="0"/>
                <a:ea typeface="Calibri" pitchFamily="34" charset="-122"/>
                <a:cs typeface="Calibri" pitchFamily="34" charset="-120"/>
              </a:rPr>
              <a:t>Majority orders are successfully delivered. </a:t>
            </a:r>
            <a:r>
              <a:rPr lang="en-IN" sz="900" dirty="0"/>
              <a:t>Cancelled and unavailable orders represent only a small percentage.</a:t>
            </a:r>
            <a:endParaRPr lang="en-US" sz="900" dirty="0"/>
          </a:p>
        </p:txBody>
      </p:sp>
      <p:sp>
        <p:nvSpPr>
          <p:cNvPr id="45" name="Shape 43"/>
          <p:cNvSpPr/>
          <p:nvPr/>
        </p:nvSpPr>
        <p:spPr>
          <a:xfrm>
            <a:off x="4663440" y="4114800"/>
            <a:ext cx="54864" cy="502920"/>
          </a:xfrm>
          <a:prstGeom prst="rect">
            <a:avLst/>
          </a:prstGeom>
          <a:solidFill>
            <a:srgbClr val="F59E0B"/>
          </a:solidFill>
          <a:ln w="12700">
            <a:solidFill>
              <a:srgbClr val="F59E0B"/>
            </a:solidFill>
            <a:prstDash val="solid"/>
          </a:ln>
        </p:spPr>
      </p:sp>
      <p:sp>
        <p:nvSpPr>
          <p:cNvPr id="46" name="Text 44"/>
          <p:cNvSpPr/>
          <p:nvPr/>
        </p:nvSpPr>
        <p:spPr>
          <a:xfrm>
            <a:off x="4818888" y="4114800"/>
            <a:ext cx="4023360" cy="219456"/>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Customer Review Score</a:t>
            </a:r>
            <a:endParaRPr lang="en-US" sz="1050" dirty="0"/>
          </a:p>
        </p:txBody>
      </p:sp>
      <p:sp>
        <p:nvSpPr>
          <p:cNvPr id="47" name="Text 45"/>
          <p:cNvSpPr/>
          <p:nvPr/>
        </p:nvSpPr>
        <p:spPr>
          <a:xfrm>
            <a:off x="4818888" y="4334256"/>
            <a:ext cx="4023360" cy="365760"/>
          </a:xfrm>
          <a:prstGeom prst="rect">
            <a:avLst/>
          </a:prstGeom>
          <a:noFill/>
          <a:ln/>
        </p:spPr>
        <p:txBody>
          <a:bodyPr wrap="square" lIns="0" tIns="0" rIns="0" bIns="0" rtlCol="0" anchor="ctr"/>
          <a:lstStyle/>
          <a:p>
            <a:r>
              <a:rPr lang="en-IN" sz="900" dirty="0"/>
              <a:t>The average review score is above </a:t>
            </a:r>
            <a:r>
              <a:rPr lang="en-IN" sz="900" b="1" dirty="0"/>
              <a:t>4 out of 5</a:t>
            </a:r>
            <a:r>
              <a:rPr lang="en-IN" sz="900" dirty="0"/>
              <a:t>, indicating positive customer satisfaction.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65760" y="0"/>
            <a:ext cx="822960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05  |  INSIGHTS &amp; SUGGESTIONS</a:t>
            </a:r>
            <a:endParaRPr lang="en-US" sz="2000" dirty="0"/>
          </a:p>
        </p:txBody>
      </p:sp>
      <p:sp>
        <p:nvSpPr>
          <p:cNvPr id="4" name="Text 2"/>
          <p:cNvSpPr/>
          <p:nvPr/>
        </p:nvSpPr>
        <p:spPr>
          <a:xfrm>
            <a:off x="274320" y="749808"/>
            <a:ext cx="4114800" cy="2743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  Key Insights</a:t>
            </a:r>
            <a:endParaRPr lang="en-US" sz="1300" dirty="0"/>
          </a:p>
        </p:txBody>
      </p:sp>
      <p:sp>
        <p:nvSpPr>
          <p:cNvPr id="5" name="Shape 3"/>
          <p:cNvSpPr/>
          <p:nvPr/>
        </p:nvSpPr>
        <p:spPr>
          <a:xfrm>
            <a:off x="274320" y="1115568"/>
            <a:ext cx="4206240" cy="594360"/>
          </a:xfrm>
          <a:prstGeom prst="rect">
            <a:avLst/>
          </a:prstGeom>
          <a:solidFill>
            <a:srgbClr val="FFFFFF"/>
          </a:solidFill>
          <a:ln w="6350">
            <a:solidFill>
              <a:srgbClr val="E2E8F0"/>
            </a:solidFill>
            <a:prstDash val="solid"/>
          </a:ln>
          <a:effectLst>
            <a:outerShdw blurRad="63500" dist="25400" dir="8100000" algn="bl" rotWithShape="0">
              <a:srgbClr val="000000">
                <a:alpha val="7000"/>
              </a:srgbClr>
            </a:outerShdw>
          </a:effectLst>
        </p:spPr>
      </p:sp>
      <p:sp>
        <p:nvSpPr>
          <p:cNvPr id="6" name="Shape 4"/>
          <p:cNvSpPr/>
          <p:nvPr/>
        </p:nvSpPr>
        <p:spPr>
          <a:xfrm>
            <a:off x="274320" y="1115568"/>
            <a:ext cx="54864" cy="594360"/>
          </a:xfrm>
          <a:prstGeom prst="rect">
            <a:avLst/>
          </a:prstGeom>
          <a:solidFill>
            <a:srgbClr val="0D9488"/>
          </a:solidFill>
          <a:ln w="12700">
            <a:solidFill>
              <a:srgbClr val="0D9488"/>
            </a:solidFill>
            <a:prstDash val="solid"/>
          </a:ln>
        </p:spPr>
      </p:sp>
      <p:sp>
        <p:nvSpPr>
          <p:cNvPr id="7" name="Text 5"/>
          <p:cNvSpPr/>
          <p:nvPr/>
        </p:nvSpPr>
        <p:spPr>
          <a:xfrm>
            <a:off x="411480" y="1170432"/>
            <a:ext cx="3886200" cy="484632"/>
          </a:xfrm>
          <a:prstGeom prst="rect">
            <a:avLst/>
          </a:prstGeom>
          <a:noFill/>
          <a:ln/>
        </p:spPr>
        <p:txBody>
          <a:bodyPr wrap="square" lIns="0" tIns="0" rIns="0" bIns="0" rtlCol="0" anchor="ctr"/>
          <a:lstStyle/>
          <a:p>
            <a:r>
              <a:rPr lang="en-IN" sz="1000" dirty="0"/>
              <a:t>💰 </a:t>
            </a:r>
            <a:r>
              <a:rPr lang="en-IN" sz="1000" b="1" dirty="0"/>
              <a:t>Over R$14M in revenue</a:t>
            </a:r>
            <a:r>
              <a:rPr lang="en-IN" sz="1000" dirty="0"/>
              <a:t> generated from nearly </a:t>
            </a:r>
            <a:r>
              <a:rPr lang="en-IN" sz="1000" b="1" dirty="0"/>
              <a:t>100K orders</a:t>
            </a:r>
            <a:r>
              <a:rPr lang="en-IN" sz="1000" dirty="0"/>
              <a:t>, indicating strong marketplace performance.</a:t>
            </a:r>
            <a:endParaRPr lang="en-US" sz="950" dirty="0"/>
          </a:p>
        </p:txBody>
      </p:sp>
      <p:sp>
        <p:nvSpPr>
          <p:cNvPr id="8" name="Shape 6"/>
          <p:cNvSpPr/>
          <p:nvPr/>
        </p:nvSpPr>
        <p:spPr>
          <a:xfrm>
            <a:off x="274320" y="1828800"/>
            <a:ext cx="4206240" cy="594360"/>
          </a:xfrm>
          <a:prstGeom prst="rect">
            <a:avLst/>
          </a:prstGeom>
          <a:solidFill>
            <a:srgbClr val="FFFFFF"/>
          </a:solidFill>
          <a:ln w="6350">
            <a:solidFill>
              <a:srgbClr val="E2E8F0"/>
            </a:solidFill>
            <a:prstDash val="solid"/>
          </a:ln>
          <a:effectLst>
            <a:outerShdw blurRad="63500" dist="25400" dir="8100000" algn="bl" rotWithShape="0">
              <a:srgbClr val="000000">
                <a:alpha val="7000"/>
              </a:srgbClr>
            </a:outerShdw>
          </a:effectLst>
        </p:spPr>
      </p:sp>
      <p:sp>
        <p:nvSpPr>
          <p:cNvPr id="9" name="Shape 7"/>
          <p:cNvSpPr/>
          <p:nvPr/>
        </p:nvSpPr>
        <p:spPr>
          <a:xfrm>
            <a:off x="274320" y="1828800"/>
            <a:ext cx="54864" cy="594360"/>
          </a:xfrm>
          <a:prstGeom prst="rect">
            <a:avLst/>
          </a:prstGeom>
          <a:solidFill>
            <a:srgbClr val="0D9488"/>
          </a:solidFill>
          <a:ln w="12700">
            <a:solidFill>
              <a:srgbClr val="0D9488"/>
            </a:solidFill>
            <a:prstDash val="solid"/>
          </a:ln>
        </p:spPr>
      </p:sp>
      <p:sp>
        <p:nvSpPr>
          <p:cNvPr id="10" name="Text 8"/>
          <p:cNvSpPr/>
          <p:nvPr/>
        </p:nvSpPr>
        <p:spPr>
          <a:xfrm>
            <a:off x="411480" y="1883664"/>
            <a:ext cx="3886200" cy="484632"/>
          </a:xfrm>
          <a:prstGeom prst="rect">
            <a:avLst/>
          </a:prstGeom>
          <a:noFill/>
          <a:ln/>
        </p:spPr>
        <p:txBody>
          <a:bodyPr wrap="square" lIns="0" tIns="0" rIns="0" bIns="0" rtlCol="0" anchor="ctr"/>
          <a:lstStyle/>
          <a:p>
            <a:r>
              <a:rPr lang="en-IN" sz="1000" dirty="0"/>
              <a:t>🏙️ </a:t>
            </a:r>
            <a:r>
              <a:rPr lang="en-IN" sz="1000" b="1" dirty="0"/>
              <a:t>São Paulo leads sales and customer volume</a:t>
            </a:r>
            <a:r>
              <a:rPr lang="en-IN" sz="1000" dirty="0"/>
              <a:t>, contributing the largest share of revenue across all Brazilian states.</a:t>
            </a:r>
            <a:endParaRPr lang="en-US" sz="950" dirty="0"/>
          </a:p>
        </p:txBody>
      </p:sp>
      <p:sp>
        <p:nvSpPr>
          <p:cNvPr id="11" name="Shape 9"/>
          <p:cNvSpPr/>
          <p:nvPr/>
        </p:nvSpPr>
        <p:spPr>
          <a:xfrm>
            <a:off x="274320" y="2542032"/>
            <a:ext cx="4206240" cy="594360"/>
          </a:xfrm>
          <a:prstGeom prst="rect">
            <a:avLst/>
          </a:prstGeom>
          <a:solidFill>
            <a:srgbClr val="FFFFFF"/>
          </a:solidFill>
          <a:ln w="6350">
            <a:solidFill>
              <a:srgbClr val="E2E8F0"/>
            </a:solidFill>
            <a:prstDash val="solid"/>
          </a:ln>
          <a:effectLst>
            <a:outerShdw blurRad="63500" dist="25400" dir="8100000" algn="bl" rotWithShape="0">
              <a:srgbClr val="000000">
                <a:alpha val="7000"/>
              </a:srgbClr>
            </a:outerShdw>
          </a:effectLst>
        </p:spPr>
      </p:sp>
      <p:sp>
        <p:nvSpPr>
          <p:cNvPr id="12" name="Shape 10"/>
          <p:cNvSpPr/>
          <p:nvPr/>
        </p:nvSpPr>
        <p:spPr>
          <a:xfrm>
            <a:off x="274320" y="2542032"/>
            <a:ext cx="54864" cy="594360"/>
          </a:xfrm>
          <a:prstGeom prst="rect">
            <a:avLst/>
          </a:prstGeom>
          <a:solidFill>
            <a:srgbClr val="0D9488"/>
          </a:solidFill>
          <a:ln w="12700">
            <a:solidFill>
              <a:srgbClr val="0D9488"/>
            </a:solidFill>
            <a:prstDash val="solid"/>
          </a:ln>
        </p:spPr>
      </p:sp>
      <p:sp>
        <p:nvSpPr>
          <p:cNvPr id="13" name="Text 11"/>
          <p:cNvSpPr/>
          <p:nvPr/>
        </p:nvSpPr>
        <p:spPr>
          <a:xfrm>
            <a:off x="411480" y="2596896"/>
            <a:ext cx="3886200" cy="484632"/>
          </a:xfrm>
          <a:prstGeom prst="rect">
            <a:avLst/>
          </a:prstGeom>
          <a:noFill/>
          <a:ln/>
        </p:spPr>
        <p:txBody>
          <a:bodyPr wrap="square" lIns="0" tIns="0" rIns="0" bIns="0" rtlCol="0" anchor="ctr"/>
          <a:lstStyle/>
          <a:p>
            <a:r>
              <a:rPr lang="en-IN" sz="1000" dirty="0"/>
              <a:t>📦 </a:t>
            </a:r>
            <a:r>
              <a:rPr lang="en-IN" sz="1000" b="1" dirty="0"/>
              <a:t>Over 97% of orders are successfully delivered</a:t>
            </a:r>
            <a:r>
              <a:rPr lang="en-IN" sz="1000" dirty="0"/>
              <a:t>, reflecting efficient order fulfilment and logistics.</a:t>
            </a:r>
            <a:endParaRPr lang="en-US" sz="950" dirty="0"/>
          </a:p>
        </p:txBody>
      </p:sp>
      <p:sp>
        <p:nvSpPr>
          <p:cNvPr id="14" name="Shape 12"/>
          <p:cNvSpPr/>
          <p:nvPr/>
        </p:nvSpPr>
        <p:spPr>
          <a:xfrm>
            <a:off x="4754880" y="1115568"/>
            <a:ext cx="4206240" cy="594360"/>
          </a:xfrm>
          <a:prstGeom prst="rect">
            <a:avLst/>
          </a:prstGeom>
          <a:solidFill>
            <a:srgbClr val="FFFFFF"/>
          </a:solidFill>
          <a:ln w="6350">
            <a:solidFill>
              <a:srgbClr val="E2E8F0"/>
            </a:solidFill>
            <a:prstDash val="solid"/>
          </a:ln>
          <a:effectLst>
            <a:outerShdw blurRad="63500" dist="25400" dir="8100000" algn="bl" rotWithShape="0">
              <a:srgbClr val="000000">
                <a:alpha val="7000"/>
              </a:srgbClr>
            </a:outerShdw>
          </a:effectLst>
        </p:spPr>
      </p:sp>
      <p:sp>
        <p:nvSpPr>
          <p:cNvPr id="15" name="Shape 13"/>
          <p:cNvSpPr/>
          <p:nvPr/>
        </p:nvSpPr>
        <p:spPr>
          <a:xfrm>
            <a:off x="4754880" y="1115568"/>
            <a:ext cx="54864" cy="594360"/>
          </a:xfrm>
          <a:prstGeom prst="rect">
            <a:avLst/>
          </a:prstGeom>
          <a:solidFill>
            <a:srgbClr val="F59E0B"/>
          </a:solidFill>
          <a:ln w="12700">
            <a:solidFill>
              <a:srgbClr val="F59E0B"/>
            </a:solidFill>
            <a:prstDash val="solid"/>
          </a:ln>
        </p:spPr>
      </p:sp>
      <p:sp>
        <p:nvSpPr>
          <p:cNvPr id="16" name="Text 14"/>
          <p:cNvSpPr/>
          <p:nvPr/>
        </p:nvSpPr>
        <p:spPr>
          <a:xfrm>
            <a:off x="4892040" y="1170432"/>
            <a:ext cx="3886200" cy="484632"/>
          </a:xfrm>
          <a:prstGeom prst="rect">
            <a:avLst/>
          </a:prstGeom>
          <a:noFill/>
          <a:ln/>
        </p:spPr>
        <p:txBody>
          <a:bodyPr wrap="square" lIns="0" tIns="0" rIns="0" bIns="0" rtlCol="0" anchor="ctr"/>
          <a:lstStyle/>
          <a:p>
            <a:r>
              <a:rPr lang="en-IN" sz="1000" dirty="0"/>
              <a:t>💳 </a:t>
            </a:r>
            <a:r>
              <a:rPr lang="en-IN" sz="1000" b="1" dirty="0"/>
              <a:t>Credit card is the preferred payment method</a:t>
            </a:r>
            <a:r>
              <a:rPr lang="en-IN" sz="1000" dirty="0"/>
              <a:t>, accounting for the majority of customer transactions.</a:t>
            </a:r>
            <a:endParaRPr lang="en-US" sz="950" dirty="0"/>
          </a:p>
        </p:txBody>
      </p:sp>
      <p:sp>
        <p:nvSpPr>
          <p:cNvPr id="17" name="Shape 15"/>
          <p:cNvSpPr/>
          <p:nvPr/>
        </p:nvSpPr>
        <p:spPr>
          <a:xfrm>
            <a:off x="4754880" y="1828800"/>
            <a:ext cx="4206240" cy="594360"/>
          </a:xfrm>
          <a:prstGeom prst="rect">
            <a:avLst/>
          </a:prstGeom>
          <a:solidFill>
            <a:srgbClr val="FFFFFF"/>
          </a:solidFill>
          <a:ln w="6350">
            <a:solidFill>
              <a:srgbClr val="E2E8F0"/>
            </a:solidFill>
            <a:prstDash val="solid"/>
          </a:ln>
          <a:effectLst>
            <a:outerShdw blurRad="63500" dist="25400" dir="8100000" algn="bl" rotWithShape="0">
              <a:srgbClr val="000000">
                <a:alpha val="7000"/>
              </a:srgbClr>
            </a:outerShdw>
          </a:effectLst>
        </p:spPr>
      </p:sp>
      <p:sp>
        <p:nvSpPr>
          <p:cNvPr id="18" name="Shape 16"/>
          <p:cNvSpPr/>
          <p:nvPr/>
        </p:nvSpPr>
        <p:spPr>
          <a:xfrm>
            <a:off x="4754880" y="1828800"/>
            <a:ext cx="54864" cy="594360"/>
          </a:xfrm>
          <a:prstGeom prst="rect">
            <a:avLst/>
          </a:prstGeom>
          <a:solidFill>
            <a:srgbClr val="F59E0B"/>
          </a:solidFill>
          <a:ln w="12700">
            <a:solidFill>
              <a:srgbClr val="F59E0B"/>
            </a:solidFill>
            <a:prstDash val="solid"/>
          </a:ln>
        </p:spPr>
      </p:sp>
      <p:sp>
        <p:nvSpPr>
          <p:cNvPr id="19" name="Text 17"/>
          <p:cNvSpPr/>
          <p:nvPr/>
        </p:nvSpPr>
        <p:spPr>
          <a:xfrm>
            <a:off x="4892040" y="1883664"/>
            <a:ext cx="3886200" cy="484632"/>
          </a:xfrm>
          <a:prstGeom prst="rect">
            <a:avLst/>
          </a:prstGeom>
          <a:noFill/>
          <a:ln/>
        </p:spPr>
        <p:txBody>
          <a:bodyPr wrap="square" lIns="0" tIns="0" rIns="0" bIns="0" rtlCol="0" anchor="ctr"/>
          <a:lstStyle/>
          <a:p>
            <a:r>
              <a:rPr lang="en-IN" sz="1000" dirty="0"/>
              <a:t>⭐ </a:t>
            </a:r>
            <a:r>
              <a:rPr lang="en-IN" sz="1000" b="1" dirty="0"/>
              <a:t>Average customer rating exceeds 4/5</a:t>
            </a:r>
            <a:r>
              <a:rPr lang="en-IN" sz="1000" dirty="0"/>
              <a:t>, indicating high customer satisfaction with products and services.</a:t>
            </a:r>
            <a:endParaRPr lang="en-US" sz="950" dirty="0"/>
          </a:p>
        </p:txBody>
      </p:sp>
      <p:sp>
        <p:nvSpPr>
          <p:cNvPr id="20" name="Shape 18"/>
          <p:cNvSpPr/>
          <p:nvPr/>
        </p:nvSpPr>
        <p:spPr>
          <a:xfrm>
            <a:off x="4754880" y="2542032"/>
            <a:ext cx="4206240" cy="594360"/>
          </a:xfrm>
          <a:prstGeom prst="rect">
            <a:avLst/>
          </a:prstGeom>
          <a:solidFill>
            <a:srgbClr val="FFFFFF"/>
          </a:solidFill>
          <a:ln w="6350">
            <a:solidFill>
              <a:srgbClr val="E2E8F0"/>
            </a:solidFill>
            <a:prstDash val="solid"/>
          </a:ln>
          <a:effectLst>
            <a:outerShdw blurRad="63500" dist="25400" dir="8100000" algn="bl" rotWithShape="0">
              <a:srgbClr val="000000">
                <a:alpha val="7000"/>
              </a:srgbClr>
            </a:outerShdw>
          </a:effectLst>
        </p:spPr>
      </p:sp>
      <p:sp>
        <p:nvSpPr>
          <p:cNvPr id="21" name="Shape 19"/>
          <p:cNvSpPr/>
          <p:nvPr/>
        </p:nvSpPr>
        <p:spPr>
          <a:xfrm>
            <a:off x="4754880" y="2542032"/>
            <a:ext cx="54864" cy="594360"/>
          </a:xfrm>
          <a:prstGeom prst="rect">
            <a:avLst/>
          </a:prstGeom>
          <a:solidFill>
            <a:srgbClr val="F59E0B"/>
          </a:solidFill>
          <a:ln w="12700">
            <a:solidFill>
              <a:srgbClr val="F59E0B"/>
            </a:solidFill>
            <a:prstDash val="solid"/>
          </a:ln>
        </p:spPr>
      </p:sp>
      <p:sp>
        <p:nvSpPr>
          <p:cNvPr id="22" name="Text 20"/>
          <p:cNvSpPr/>
          <p:nvPr/>
        </p:nvSpPr>
        <p:spPr>
          <a:xfrm>
            <a:off x="4892040" y="2596896"/>
            <a:ext cx="3886200" cy="484632"/>
          </a:xfrm>
          <a:prstGeom prst="rect">
            <a:avLst/>
          </a:prstGeom>
          <a:noFill/>
          <a:ln/>
        </p:spPr>
        <p:txBody>
          <a:bodyPr wrap="square" lIns="0" tIns="0" rIns="0" bIns="0" rtlCol="0" anchor="ctr"/>
          <a:lstStyle/>
          <a:p>
            <a:r>
              <a:rPr lang="en-IN" sz="1000" dirty="0"/>
              <a:t>🚚 </a:t>
            </a:r>
            <a:r>
              <a:rPr lang="en-IN" sz="1000" b="1" dirty="0"/>
              <a:t>Most orders are delivered within 1–2 weeks</a:t>
            </a:r>
            <a:r>
              <a:rPr lang="en-IN" sz="1000" dirty="0"/>
              <a:t>, showing consistent delivery performance with only a small number of delayed shipments.</a:t>
            </a:r>
            <a:endParaRPr lang="en-US" sz="950" dirty="0"/>
          </a:p>
        </p:txBody>
      </p:sp>
      <p:sp>
        <p:nvSpPr>
          <p:cNvPr id="23" name="Shape 21"/>
          <p:cNvSpPr/>
          <p:nvPr/>
        </p:nvSpPr>
        <p:spPr>
          <a:xfrm>
            <a:off x="-91440" y="4279392"/>
            <a:ext cx="9144000" cy="932688"/>
          </a:xfrm>
          <a:prstGeom prst="rect">
            <a:avLst/>
          </a:prstGeom>
          <a:solidFill>
            <a:srgbClr val="1B2A4A"/>
          </a:solidFill>
          <a:ln w="12700">
            <a:solidFill>
              <a:srgbClr val="1B2A4A"/>
            </a:solidFill>
            <a:prstDash val="solid"/>
          </a:ln>
        </p:spPr>
      </p:sp>
      <p:sp>
        <p:nvSpPr>
          <p:cNvPr id="24" name="Text 22"/>
          <p:cNvSpPr/>
          <p:nvPr/>
        </p:nvSpPr>
        <p:spPr>
          <a:xfrm>
            <a:off x="274320" y="4224528"/>
            <a:ext cx="2286000" cy="256032"/>
          </a:xfrm>
          <a:prstGeom prst="rect">
            <a:avLst/>
          </a:prstGeom>
          <a:noFill/>
          <a:ln/>
        </p:spPr>
        <p:txBody>
          <a:bodyPr wrap="square" lIns="0" tIns="0" rIns="0" bIns="0" rtlCol="0" anchor="ctr"/>
          <a:lstStyle/>
          <a:p>
            <a:pPr marL="0" indent="0">
              <a:buNone/>
            </a:pPr>
            <a:r>
              <a:rPr lang="en-US" sz="1100" b="1" dirty="0">
                <a:solidFill>
                  <a:srgbClr val="FCD34D"/>
                </a:solidFill>
                <a:latin typeface="Calibri" pitchFamily="34" charset="0"/>
                <a:ea typeface="Calibri" pitchFamily="34" charset="-122"/>
                <a:cs typeface="Calibri" pitchFamily="34" charset="-120"/>
              </a:rPr>
              <a:t>💡  Recommendations</a:t>
            </a:r>
            <a:endParaRPr lang="en-US" sz="1100" dirty="0"/>
          </a:p>
        </p:txBody>
      </p:sp>
      <p:sp>
        <p:nvSpPr>
          <p:cNvPr id="25" name="Text 23"/>
          <p:cNvSpPr/>
          <p:nvPr/>
        </p:nvSpPr>
        <p:spPr>
          <a:xfrm>
            <a:off x="274320" y="4526280"/>
            <a:ext cx="4114800" cy="219456"/>
          </a:xfrm>
          <a:prstGeom prst="rect">
            <a:avLst/>
          </a:prstGeom>
          <a:noFill/>
          <a:ln/>
        </p:spPr>
        <p:txBody>
          <a:bodyPr wrap="square" lIns="0" tIns="0" rIns="0" bIns="0" rtlCol="0" anchor="ctr"/>
          <a:lstStyle/>
          <a:p>
            <a:pPr marL="0" indent="0">
              <a:buNone/>
            </a:pPr>
            <a:r>
              <a:rPr lang="en-US" sz="900" dirty="0">
                <a:solidFill>
                  <a:srgbClr val="E2E8F0"/>
                </a:solidFill>
                <a:latin typeface="Calibri" pitchFamily="34" charset="0"/>
                <a:ea typeface="Calibri" pitchFamily="34" charset="-122"/>
                <a:cs typeface="Calibri" pitchFamily="34" charset="-120"/>
              </a:rPr>
              <a:t>→  Increase sales in low-performing states </a:t>
            </a:r>
            <a:endParaRPr lang="en-US" sz="900" dirty="0"/>
          </a:p>
        </p:txBody>
      </p:sp>
      <p:sp>
        <p:nvSpPr>
          <p:cNvPr id="26" name="Text 24"/>
          <p:cNvSpPr/>
          <p:nvPr/>
        </p:nvSpPr>
        <p:spPr>
          <a:xfrm>
            <a:off x="274320" y="4782312"/>
            <a:ext cx="4114800" cy="219456"/>
          </a:xfrm>
          <a:prstGeom prst="rect">
            <a:avLst/>
          </a:prstGeom>
          <a:noFill/>
          <a:ln/>
        </p:spPr>
        <p:txBody>
          <a:bodyPr wrap="square" lIns="0" tIns="0" rIns="0" bIns="0" rtlCol="0" anchor="ctr"/>
          <a:lstStyle/>
          <a:p>
            <a:pPr marL="0" indent="0">
              <a:buNone/>
            </a:pPr>
            <a:r>
              <a:rPr lang="en-US" sz="900" dirty="0">
                <a:solidFill>
                  <a:srgbClr val="E2E8F0"/>
                </a:solidFill>
                <a:latin typeface="Calibri" pitchFamily="34" charset="0"/>
                <a:ea typeface="Calibri" pitchFamily="34" charset="-122"/>
                <a:cs typeface="Calibri" pitchFamily="34" charset="-120"/>
              </a:rPr>
              <a:t>→  Boost Average Order value</a:t>
            </a:r>
            <a:endParaRPr lang="en-US" sz="900" dirty="0"/>
          </a:p>
        </p:txBody>
      </p:sp>
      <p:sp>
        <p:nvSpPr>
          <p:cNvPr id="27" name="Text 25"/>
          <p:cNvSpPr/>
          <p:nvPr/>
        </p:nvSpPr>
        <p:spPr>
          <a:xfrm>
            <a:off x="4709160" y="4526280"/>
            <a:ext cx="4114800" cy="219456"/>
          </a:xfrm>
          <a:prstGeom prst="rect">
            <a:avLst/>
          </a:prstGeom>
          <a:noFill/>
          <a:ln/>
        </p:spPr>
        <p:txBody>
          <a:bodyPr wrap="square" lIns="0" tIns="0" rIns="0" bIns="0" rtlCol="0" anchor="ctr"/>
          <a:lstStyle/>
          <a:p>
            <a:pPr marL="0" indent="0">
              <a:buNone/>
            </a:pPr>
            <a:r>
              <a:rPr lang="en-US" sz="900" dirty="0">
                <a:solidFill>
                  <a:srgbClr val="E2E8F0"/>
                </a:solidFill>
                <a:latin typeface="Calibri" pitchFamily="34" charset="0"/>
                <a:ea typeface="Calibri" pitchFamily="34" charset="-122"/>
                <a:cs typeface="Calibri" pitchFamily="34" charset="-120"/>
              </a:rPr>
              <a:t>→  Reduce delivery delays</a:t>
            </a:r>
            <a:endParaRPr lang="en-US" sz="900" dirty="0"/>
          </a:p>
        </p:txBody>
      </p:sp>
      <p:sp>
        <p:nvSpPr>
          <p:cNvPr id="28" name="Text 26"/>
          <p:cNvSpPr/>
          <p:nvPr/>
        </p:nvSpPr>
        <p:spPr>
          <a:xfrm>
            <a:off x="4709160" y="4782312"/>
            <a:ext cx="4114800" cy="219456"/>
          </a:xfrm>
          <a:prstGeom prst="rect">
            <a:avLst/>
          </a:prstGeom>
          <a:noFill/>
          <a:ln/>
        </p:spPr>
        <p:txBody>
          <a:bodyPr wrap="square" lIns="0" tIns="0" rIns="0" bIns="0" rtlCol="0" anchor="ctr"/>
          <a:lstStyle/>
          <a:p>
            <a:pPr marL="0" indent="0">
              <a:buNone/>
            </a:pPr>
            <a:r>
              <a:rPr lang="en-US" sz="900" dirty="0">
                <a:solidFill>
                  <a:srgbClr val="E2E8F0"/>
                </a:solidFill>
                <a:latin typeface="Calibri" pitchFamily="34" charset="0"/>
                <a:ea typeface="Calibri" pitchFamily="34" charset="-122"/>
                <a:cs typeface="Calibri" pitchFamily="34" charset="-120"/>
              </a:rPr>
              <a:t>→  Maintain high customers satisfaction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365760" y="274320"/>
            <a:ext cx="8229600" cy="4114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06  |  CONCLUSION</a:t>
            </a:r>
            <a:endParaRPr lang="en-US" sz="2200" dirty="0"/>
          </a:p>
        </p:txBody>
      </p:sp>
      <p:sp>
        <p:nvSpPr>
          <p:cNvPr id="4" name="Shape 2"/>
          <p:cNvSpPr/>
          <p:nvPr/>
        </p:nvSpPr>
        <p:spPr>
          <a:xfrm>
            <a:off x="365760" y="822960"/>
            <a:ext cx="8412480" cy="1325880"/>
          </a:xfrm>
          <a:prstGeom prst="rect">
            <a:avLst/>
          </a:prstGeom>
          <a:solidFill>
            <a:srgbClr val="1B2A4A"/>
          </a:solidFill>
          <a:ln w="19050">
            <a:solidFill>
              <a:srgbClr val="0D9488"/>
            </a:solidFill>
            <a:prstDash val="solid"/>
          </a:ln>
        </p:spPr>
      </p:sp>
      <p:sp>
        <p:nvSpPr>
          <p:cNvPr id="5" name="Text 3"/>
          <p:cNvSpPr/>
          <p:nvPr/>
        </p:nvSpPr>
        <p:spPr>
          <a:xfrm>
            <a:off x="594360" y="868680"/>
            <a:ext cx="7955280" cy="1234440"/>
          </a:xfrm>
          <a:prstGeom prst="rect">
            <a:avLst/>
          </a:prstGeom>
          <a:noFill/>
          <a:ln/>
        </p:spPr>
        <p:txBody>
          <a:bodyPr wrap="square" lIns="0" tIns="0" rIns="0" bIns="0" rtlCol="0" anchor="ctr"/>
          <a:lstStyle/>
          <a:p>
            <a:r>
              <a:rPr lang="en-IN" sz="1400" dirty="0">
                <a:solidFill>
                  <a:schemeClr val="bg1">
                    <a:lumMod val="85000"/>
                  </a:schemeClr>
                </a:solidFill>
              </a:rPr>
              <a:t>This e-commerce analysis provides insights into sales performance, customer behavior, delivery efficiency, and payment trends across Brazil. The interactive Power BI dashboard enables data-driven decision-making through dynamic filtering and KPI tracking.</a:t>
            </a:r>
            <a:endParaRPr lang="en-US" sz="1200" dirty="0">
              <a:solidFill>
                <a:schemeClr val="bg1">
                  <a:lumMod val="85000"/>
                </a:schemeClr>
              </a:solidFill>
            </a:endParaRPr>
          </a:p>
        </p:txBody>
      </p:sp>
      <p:sp>
        <p:nvSpPr>
          <p:cNvPr id="6" name="Shape 4"/>
          <p:cNvSpPr/>
          <p:nvPr/>
        </p:nvSpPr>
        <p:spPr>
          <a:xfrm>
            <a:off x="365760" y="2331720"/>
            <a:ext cx="2606040" cy="1920240"/>
          </a:xfrm>
          <a:prstGeom prst="rect">
            <a:avLst/>
          </a:prstGeom>
          <a:solidFill>
            <a:srgbClr val="1B2A4A"/>
          </a:solidFill>
          <a:ln w="12700">
            <a:solidFill>
              <a:srgbClr val="0D9488"/>
            </a:solidFill>
            <a:prstDash val="solid"/>
          </a:ln>
        </p:spPr>
      </p:sp>
      <p:sp>
        <p:nvSpPr>
          <p:cNvPr id="7" name="Shape 5"/>
          <p:cNvSpPr/>
          <p:nvPr/>
        </p:nvSpPr>
        <p:spPr>
          <a:xfrm>
            <a:off x="365760" y="2331720"/>
            <a:ext cx="2606040" cy="365760"/>
          </a:xfrm>
          <a:prstGeom prst="rect">
            <a:avLst/>
          </a:prstGeom>
          <a:solidFill>
            <a:srgbClr val="0D9488"/>
          </a:solidFill>
          <a:ln w="12700">
            <a:solidFill>
              <a:srgbClr val="0D9488"/>
            </a:solidFill>
            <a:prstDash val="solid"/>
          </a:ln>
        </p:spPr>
      </p:sp>
      <p:sp>
        <p:nvSpPr>
          <p:cNvPr id="8" name="Text 6"/>
          <p:cNvSpPr/>
          <p:nvPr/>
        </p:nvSpPr>
        <p:spPr>
          <a:xfrm>
            <a:off x="365760" y="2331720"/>
            <a:ext cx="260604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9" name="Text 7"/>
          <p:cNvSpPr/>
          <p:nvPr/>
        </p:nvSpPr>
        <p:spPr>
          <a:xfrm>
            <a:off x="475488" y="2743200"/>
            <a:ext cx="2377440" cy="320040"/>
          </a:xfrm>
          <a:prstGeom prst="rect">
            <a:avLst/>
          </a:prstGeom>
          <a:noFill/>
          <a:ln/>
        </p:spPr>
        <p:txBody>
          <a:bodyPr wrap="square" lIns="0" tIns="0" rIns="0" bIns="0" rtlCol="0" anchor="ctr"/>
          <a:lstStyle/>
          <a:p>
            <a:pPr marL="0" indent="0">
              <a:buNone/>
            </a:pPr>
            <a:r>
              <a:rPr lang="en-US" sz="1100" b="1" dirty="0">
                <a:solidFill>
                  <a:srgbClr val="FCD34D"/>
                </a:solidFill>
                <a:latin typeface="Calibri" pitchFamily="34" charset="0"/>
                <a:ea typeface="Calibri" pitchFamily="34" charset="-122"/>
                <a:cs typeface="Calibri" pitchFamily="34" charset="-120"/>
              </a:rPr>
              <a:t>Sales Growth Opportunities</a:t>
            </a:r>
            <a:endParaRPr lang="en-US" sz="1100" dirty="0"/>
          </a:p>
        </p:txBody>
      </p:sp>
      <p:sp>
        <p:nvSpPr>
          <p:cNvPr id="10" name="Text 8"/>
          <p:cNvSpPr/>
          <p:nvPr/>
        </p:nvSpPr>
        <p:spPr>
          <a:xfrm>
            <a:off x="475488" y="3090672"/>
            <a:ext cx="2377440" cy="1097280"/>
          </a:xfrm>
          <a:prstGeom prst="rect">
            <a:avLst/>
          </a:prstGeom>
          <a:noFill/>
          <a:ln/>
        </p:spPr>
        <p:txBody>
          <a:bodyPr wrap="square" lIns="0" tIns="0" rIns="0" bIns="0" rtlCol="0" anchor="ctr"/>
          <a:lstStyle/>
          <a:p>
            <a:r>
              <a:rPr lang="en-IN" sz="1050" dirty="0">
                <a:solidFill>
                  <a:schemeClr val="bg1">
                    <a:lumMod val="85000"/>
                  </a:schemeClr>
                </a:solidFill>
              </a:rPr>
              <a:t>Revenue is driven by a few high-performing categories and regions. Expanding successful products and markets can improve overall sales performance.</a:t>
            </a:r>
            <a:endParaRPr lang="en-US" sz="1000" dirty="0">
              <a:solidFill>
                <a:schemeClr val="bg1">
                  <a:lumMod val="85000"/>
                </a:schemeClr>
              </a:solidFill>
            </a:endParaRPr>
          </a:p>
        </p:txBody>
      </p:sp>
      <p:sp>
        <p:nvSpPr>
          <p:cNvPr id="11" name="Shape 9"/>
          <p:cNvSpPr/>
          <p:nvPr/>
        </p:nvSpPr>
        <p:spPr>
          <a:xfrm>
            <a:off x="3200400" y="2331720"/>
            <a:ext cx="2606040" cy="1920240"/>
          </a:xfrm>
          <a:prstGeom prst="rect">
            <a:avLst/>
          </a:prstGeom>
          <a:solidFill>
            <a:srgbClr val="1B2A4A"/>
          </a:solidFill>
          <a:ln w="12700">
            <a:solidFill>
              <a:srgbClr val="0D9488"/>
            </a:solidFill>
            <a:prstDash val="solid"/>
          </a:ln>
        </p:spPr>
      </p:sp>
      <p:sp>
        <p:nvSpPr>
          <p:cNvPr id="12" name="Shape 10"/>
          <p:cNvSpPr/>
          <p:nvPr/>
        </p:nvSpPr>
        <p:spPr>
          <a:xfrm>
            <a:off x="3200400" y="2331720"/>
            <a:ext cx="2606040" cy="365760"/>
          </a:xfrm>
          <a:prstGeom prst="rect">
            <a:avLst/>
          </a:prstGeom>
          <a:solidFill>
            <a:srgbClr val="0D9488"/>
          </a:solidFill>
          <a:ln w="12700">
            <a:solidFill>
              <a:srgbClr val="0D9488"/>
            </a:solidFill>
            <a:prstDash val="solid"/>
          </a:ln>
        </p:spPr>
      </p:sp>
      <p:sp>
        <p:nvSpPr>
          <p:cNvPr id="13" name="Text 11"/>
          <p:cNvSpPr/>
          <p:nvPr/>
        </p:nvSpPr>
        <p:spPr>
          <a:xfrm>
            <a:off x="3200400" y="2331720"/>
            <a:ext cx="260604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4" name="Text 12"/>
          <p:cNvSpPr/>
          <p:nvPr/>
        </p:nvSpPr>
        <p:spPr>
          <a:xfrm>
            <a:off x="3310128" y="2743200"/>
            <a:ext cx="2377440" cy="320040"/>
          </a:xfrm>
          <a:prstGeom prst="rect">
            <a:avLst/>
          </a:prstGeom>
          <a:noFill/>
          <a:ln/>
        </p:spPr>
        <p:txBody>
          <a:bodyPr wrap="square" lIns="0" tIns="0" rIns="0" bIns="0" rtlCol="0" anchor="ctr"/>
          <a:lstStyle/>
          <a:p>
            <a:pPr marL="0" indent="0">
              <a:buNone/>
            </a:pPr>
            <a:r>
              <a:rPr lang="en-US" sz="1100" b="1" dirty="0">
                <a:solidFill>
                  <a:srgbClr val="FCD34D"/>
                </a:solidFill>
                <a:latin typeface="Calibri" pitchFamily="34" charset="0"/>
                <a:ea typeface="Calibri" pitchFamily="34" charset="-122"/>
                <a:cs typeface="Calibri" pitchFamily="34" charset="-120"/>
              </a:rPr>
              <a:t>Customer Experience Matters</a:t>
            </a:r>
            <a:endParaRPr lang="en-US" sz="1100" dirty="0"/>
          </a:p>
        </p:txBody>
      </p:sp>
      <p:sp>
        <p:nvSpPr>
          <p:cNvPr id="15" name="Text 13"/>
          <p:cNvSpPr/>
          <p:nvPr/>
        </p:nvSpPr>
        <p:spPr>
          <a:xfrm>
            <a:off x="3310128" y="3090672"/>
            <a:ext cx="2377440" cy="1097280"/>
          </a:xfrm>
          <a:prstGeom prst="rect">
            <a:avLst/>
          </a:prstGeom>
          <a:noFill/>
          <a:ln/>
        </p:spPr>
        <p:txBody>
          <a:bodyPr wrap="square" lIns="0" tIns="0" rIns="0" bIns="0" rtlCol="0" anchor="ctr"/>
          <a:lstStyle/>
          <a:p>
            <a:r>
              <a:rPr lang="en-IN" sz="1050" dirty="0">
                <a:solidFill>
                  <a:schemeClr val="bg1">
                    <a:lumMod val="85000"/>
                  </a:schemeClr>
                </a:solidFill>
              </a:rPr>
              <a:t>Delivery delays and order cancellations impact customer satisfaction. Improving logistics can increase retention and reduce negative reviews.</a:t>
            </a:r>
            <a:endParaRPr lang="en-US" sz="1000" dirty="0">
              <a:solidFill>
                <a:schemeClr val="bg1">
                  <a:lumMod val="85000"/>
                </a:schemeClr>
              </a:solidFill>
            </a:endParaRPr>
          </a:p>
        </p:txBody>
      </p:sp>
      <p:sp>
        <p:nvSpPr>
          <p:cNvPr id="16" name="Shape 14"/>
          <p:cNvSpPr/>
          <p:nvPr/>
        </p:nvSpPr>
        <p:spPr>
          <a:xfrm>
            <a:off x="6035040" y="2331720"/>
            <a:ext cx="2606040" cy="1920240"/>
          </a:xfrm>
          <a:prstGeom prst="rect">
            <a:avLst/>
          </a:prstGeom>
          <a:solidFill>
            <a:srgbClr val="1B2A4A"/>
          </a:solidFill>
          <a:ln w="12700">
            <a:solidFill>
              <a:srgbClr val="0D9488"/>
            </a:solidFill>
            <a:prstDash val="solid"/>
          </a:ln>
        </p:spPr>
      </p:sp>
      <p:sp>
        <p:nvSpPr>
          <p:cNvPr id="17" name="Shape 15"/>
          <p:cNvSpPr/>
          <p:nvPr/>
        </p:nvSpPr>
        <p:spPr>
          <a:xfrm>
            <a:off x="6035040" y="2331720"/>
            <a:ext cx="2606040" cy="365760"/>
          </a:xfrm>
          <a:prstGeom prst="rect">
            <a:avLst/>
          </a:prstGeom>
          <a:solidFill>
            <a:srgbClr val="0D9488"/>
          </a:solidFill>
          <a:ln w="12700">
            <a:solidFill>
              <a:srgbClr val="0D9488"/>
            </a:solidFill>
            <a:prstDash val="solid"/>
          </a:ln>
        </p:spPr>
      </p:sp>
      <p:sp>
        <p:nvSpPr>
          <p:cNvPr id="18" name="Text 16"/>
          <p:cNvSpPr/>
          <p:nvPr/>
        </p:nvSpPr>
        <p:spPr>
          <a:xfrm>
            <a:off x="6035040" y="2331720"/>
            <a:ext cx="260604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9" name="Text 17"/>
          <p:cNvSpPr/>
          <p:nvPr/>
        </p:nvSpPr>
        <p:spPr>
          <a:xfrm>
            <a:off x="6144768" y="2743200"/>
            <a:ext cx="2377440" cy="320040"/>
          </a:xfrm>
          <a:prstGeom prst="rect">
            <a:avLst/>
          </a:prstGeom>
          <a:noFill/>
          <a:ln/>
        </p:spPr>
        <p:txBody>
          <a:bodyPr wrap="square" lIns="0" tIns="0" rIns="0" bIns="0" rtlCol="0" anchor="ctr"/>
          <a:lstStyle/>
          <a:p>
            <a:pPr marL="0" indent="0">
              <a:buNone/>
            </a:pPr>
            <a:r>
              <a:rPr lang="en-US" sz="1100" b="1" dirty="0">
                <a:solidFill>
                  <a:srgbClr val="FCD34D"/>
                </a:solidFill>
                <a:latin typeface="Calibri" pitchFamily="34" charset="0"/>
                <a:ea typeface="Calibri" pitchFamily="34" charset="-122"/>
                <a:cs typeface="Calibri" pitchFamily="34" charset="-120"/>
              </a:rPr>
              <a:t>Data-Driven Business </a:t>
            </a:r>
            <a:r>
              <a:rPr lang="en-US" sz="1100" b="1" dirty="0" err="1">
                <a:solidFill>
                  <a:srgbClr val="FCD34D"/>
                </a:solidFill>
                <a:latin typeface="Calibri" pitchFamily="34" charset="0"/>
                <a:ea typeface="Calibri" pitchFamily="34" charset="-122"/>
                <a:cs typeface="Calibri" pitchFamily="34" charset="-120"/>
              </a:rPr>
              <a:t>Decisiond</a:t>
            </a:r>
            <a:endParaRPr lang="en-US" sz="1100" dirty="0"/>
          </a:p>
        </p:txBody>
      </p:sp>
      <p:sp>
        <p:nvSpPr>
          <p:cNvPr id="20" name="Text 18"/>
          <p:cNvSpPr/>
          <p:nvPr/>
        </p:nvSpPr>
        <p:spPr>
          <a:xfrm>
            <a:off x="6144768" y="3090672"/>
            <a:ext cx="2377440" cy="1097280"/>
          </a:xfrm>
          <a:prstGeom prst="rect">
            <a:avLst/>
          </a:prstGeom>
          <a:noFill/>
          <a:ln/>
        </p:spPr>
        <p:txBody>
          <a:bodyPr wrap="square" lIns="0" tIns="0" rIns="0" bIns="0" rtlCol="0" anchor="ctr"/>
          <a:lstStyle/>
          <a:p>
            <a:r>
              <a:rPr lang="en-IN" sz="1050" dirty="0">
                <a:solidFill>
                  <a:schemeClr val="bg1">
                    <a:lumMod val="85000"/>
                  </a:schemeClr>
                </a:solidFill>
              </a:rPr>
              <a:t>Customer, product, and payment insights help optimize inventory, marketing strategies, and operational efficiency for sustainable growth.</a:t>
            </a:r>
            <a:endParaRPr lang="en-US" sz="1050" dirty="0">
              <a:solidFill>
                <a:schemeClr val="bg1">
                  <a:lumMod val="85000"/>
                </a:schemeClr>
              </a:solidFill>
            </a:endParaRPr>
          </a:p>
        </p:txBody>
      </p:sp>
      <p:sp>
        <p:nvSpPr>
          <p:cNvPr id="21" name="Shape 19"/>
          <p:cNvSpPr/>
          <p:nvPr/>
        </p:nvSpPr>
        <p:spPr>
          <a:xfrm>
            <a:off x="0" y="4434840"/>
            <a:ext cx="9144000" cy="704088"/>
          </a:xfrm>
          <a:prstGeom prst="rect">
            <a:avLst/>
          </a:prstGeom>
          <a:solidFill>
            <a:srgbClr val="0D9488"/>
          </a:solidFill>
          <a:ln w="12700">
            <a:solidFill>
              <a:srgbClr val="0D9488"/>
            </a:solidFill>
            <a:prstDash val="solid"/>
          </a:ln>
        </p:spPr>
      </p:sp>
      <p:sp>
        <p:nvSpPr>
          <p:cNvPr id="22" name="Text 20"/>
          <p:cNvSpPr/>
          <p:nvPr/>
        </p:nvSpPr>
        <p:spPr>
          <a:xfrm>
            <a:off x="0" y="4434840"/>
            <a:ext cx="9144000" cy="704088"/>
          </a:xfrm>
          <a:prstGeom prst="rect">
            <a:avLst/>
          </a:prstGeom>
          <a:noFill/>
          <a:ln/>
        </p:spPr>
        <p:txBody>
          <a:bodyPr wrap="square" lIns="0" tIns="0" rIns="0" bIns="0" rtlCol="0" anchor="ctr"/>
          <a:lstStyle/>
          <a:p>
            <a:pPr marL="0" indent="0" algn="ctr">
              <a:buNone/>
            </a:pPr>
            <a:r>
              <a:rPr lang="en-US" sz="1300" b="1" dirty="0" err="1">
                <a:solidFill>
                  <a:srgbClr val="FFFFFF"/>
                </a:solidFill>
                <a:latin typeface="Calibri" pitchFamily="34" charset="0"/>
                <a:ea typeface="Calibri" pitchFamily="34" charset="-122"/>
                <a:cs typeface="Calibri" pitchFamily="34" charset="-120"/>
              </a:rPr>
              <a:t>Olist</a:t>
            </a:r>
            <a:r>
              <a:rPr lang="en-US" sz="1300" b="1" dirty="0">
                <a:solidFill>
                  <a:srgbClr val="FFFFFF"/>
                </a:solidFill>
                <a:latin typeface="Calibri" pitchFamily="34" charset="0"/>
                <a:ea typeface="Calibri" pitchFamily="34" charset="-122"/>
                <a:cs typeface="Calibri" pitchFamily="34" charset="-120"/>
              </a:rPr>
              <a:t> E-commerce </a:t>
            </a:r>
            <a:r>
              <a:rPr lang="en-US" sz="1300" b="1">
                <a:solidFill>
                  <a:srgbClr val="FFFFFF"/>
                </a:solidFill>
                <a:latin typeface="Calibri" pitchFamily="34" charset="0"/>
                <a:ea typeface="Calibri" pitchFamily="34" charset="-122"/>
                <a:cs typeface="Calibri" pitchFamily="34" charset="-120"/>
              </a:rPr>
              <a:t>Analytics Dashboard</a:t>
            </a:r>
            <a:endParaRPr lang="en-US" sz="1300" dirty="0"/>
          </a:p>
        </p:txBody>
      </p:sp>
      <p:sp>
        <p:nvSpPr>
          <p:cNvPr id="23" name="Shape 21"/>
          <p:cNvSpPr/>
          <p:nvPr/>
        </p:nvSpPr>
        <p:spPr>
          <a:xfrm>
            <a:off x="0" y="5070348"/>
            <a:ext cx="9144000" cy="73152"/>
          </a:xfrm>
          <a:prstGeom prst="rect">
            <a:avLst/>
          </a:prstGeom>
          <a:solidFill>
            <a:srgbClr val="F59E0B"/>
          </a:solidFill>
          <a:ln w="12700">
            <a:solidFill>
              <a:srgbClr val="F59E0B"/>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363</TotalTime>
  <Words>717</Words>
  <Application>Microsoft Office PowerPoint</Application>
  <PresentationFormat>On-screen Show (16:9)</PresentationFormat>
  <Paragraphs>96</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Hospitality Analytics Dashboard</dc:title>
  <dc:subject>PptxGenJS Presentation</dc:subject>
  <dc:creator>Hospitality Analytics Team</dc:creator>
  <cp:lastModifiedBy>Shruti Revankar</cp:lastModifiedBy>
  <cp:revision>7</cp:revision>
  <dcterms:created xsi:type="dcterms:W3CDTF">2026-04-18T08:38:41Z</dcterms:created>
  <dcterms:modified xsi:type="dcterms:W3CDTF">2026-06-26T16:32:31Z</dcterms:modified>
</cp:coreProperties>
</file>