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3" r:id="rId4"/>
    <p:sldId id="262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46" autoAdjust="0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2" y="7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37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BAAF4-DD8B-5E84-046E-3D1ACB428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34551-C553-6CCA-B5EA-D0E5EB962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F3494C-D770-7039-B265-97E33F639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C60E3-56F2-93BD-C326-96D82EF0A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6456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560204"/>
            <a:ext cx="64008" cy="191496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60205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4400" b="1" dirty="0">
                <a:solidFill>
                  <a:srgbClr val="00CC99"/>
                </a:solidFill>
              </a:rPr>
              <a:t>Google Maps Business Analysis</a:t>
            </a:r>
            <a:endParaRPr lang="en-US" sz="4400" b="1" dirty="0">
              <a:solidFill>
                <a:srgbClr val="00CC99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2408694"/>
            <a:ext cx="7772400" cy="380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FC000"/>
                </a:solidFill>
              </a:rPr>
              <a:t>Overview of dashboard, insights and recommendations</a:t>
            </a:r>
          </a:p>
        </p:txBody>
      </p:sp>
      <p:sp>
        <p:nvSpPr>
          <p:cNvPr id="8" name="Shape 6"/>
          <p:cNvSpPr/>
          <p:nvPr/>
        </p:nvSpPr>
        <p:spPr>
          <a:xfrm>
            <a:off x="685800" y="2946766"/>
            <a:ext cx="7055249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10941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5800" y="331057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Raigad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65964" y="310941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55073" y="331057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Localities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22319" y="310941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CATEGORIES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11436" y="331057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Categories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33850" y="3112379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255617" y="331057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</a:t>
            </a:r>
          </a:p>
        </p:txBody>
      </p:sp>
      <p:sp>
        <p:nvSpPr>
          <p:cNvPr id="17" name="Text 15"/>
          <p:cNvSpPr/>
          <p:nvPr/>
        </p:nvSpPr>
        <p:spPr>
          <a:xfrm>
            <a:off x="0" y="480060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Shrutee Revankar |  Tools: Power BI · Excel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133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BUSINESS INSIGHTS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19890" y="809244"/>
            <a:ext cx="4206240" cy="19411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274320" y="844732"/>
            <a:ext cx="45719" cy="1844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326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b="1" dirty="0">
                <a:solidFill>
                  <a:srgbClr val="009999"/>
                </a:solidFill>
              </a:rPr>
              <a:t>🌐 Executive Overview</a:t>
            </a:r>
            <a:endParaRPr lang="en-US" sz="1400" b="1" dirty="0">
              <a:solidFill>
                <a:srgbClr val="009999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38912" y="1298448"/>
            <a:ext cx="3840480" cy="1273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1611313" algn="l"/>
              </a:tabLst>
            </a:pPr>
            <a:r>
              <a:rPr lang="en-IN" sz="1400" dirty="0"/>
              <a:t>📍 </a:t>
            </a:r>
            <a:r>
              <a:rPr lang="en-IN" sz="1400" b="1" dirty="0"/>
              <a:t>420</a:t>
            </a:r>
            <a:r>
              <a:rPr lang="en-IN" sz="1400" dirty="0"/>
              <a:t> businesses analyzed across </a:t>
            </a:r>
            <a:r>
              <a:rPr lang="en-IN" sz="1400" b="1" dirty="0"/>
              <a:t>11 areas</a:t>
            </a:r>
            <a:r>
              <a:rPr lang="en-IN" sz="1400" dirty="0"/>
              <a:t> </a:t>
            </a:r>
          </a:p>
          <a:p>
            <a:pPr>
              <a:tabLst>
                <a:tab pos="1611313" algn="l"/>
              </a:tabLst>
            </a:pPr>
            <a:r>
              <a:rPr lang="en-IN" sz="1400" dirty="0"/>
              <a:t>🌍 </a:t>
            </a:r>
            <a:r>
              <a:rPr lang="en-IN" sz="1400" b="1" dirty="0"/>
              <a:t>81.2%</a:t>
            </a:r>
            <a:r>
              <a:rPr lang="en-IN" sz="1400" dirty="0"/>
              <a:t> of businesses </a:t>
            </a:r>
            <a:r>
              <a:rPr lang="en-IN" sz="1400" b="1" dirty="0"/>
              <a:t>do not have a website</a:t>
            </a:r>
            <a:r>
              <a:rPr lang="en-IN" sz="1400" dirty="0"/>
              <a:t> </a:t>
            </a:r>
          </a:p>
          <a:p>
            <a:pPr>
              <a:tabLst>
                <a:tab pos="1611313" algn="l"/>
              </a:tabLst>
            </a:pPr>
            <a:r>
              <a:rPr lang="en-IN" sz="1400" dirty="0"/>
              <a:t>⭐ Average Google Rating: </a:t>
            </a:r>
            <a:r>
              <a:rPr lang="en-IN" sz="1400" b="1" dirty="0"/>
              <a:t>4.48 / 5</a:t>
            </a:r>
            <a:r>
              <a:rPr lang="en-IN" sz="1400" dirty="0"/>
              <a:t> </a:t>
            </a:r>
          </a:p>
          <a:p>
            <a:pPr>
              <a:tabLst>
                <a:tab pos="1611313" algn="l"/>
              </a:tabLst>
            </a:pPr>
            <a:r>
              <a:rPr lang="en-IN" sz="1400" dirty="0"/>
              <a:t>💻 Website Presence: </a:t>
            </a:r>
            <a:r>
              <a:rPr lang="en-IN" sz="1400" b="1" dirty="0"/>
              <a:t>18.81%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0776" y="2990088"/>
            <a:ext cx="4206240" cy="19411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flipH="1">
            <a:off x="283464" y="3086101"/>
            <a:ext cx="45719" cy="1825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30861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b="1" dirty="0">
                <a:solidFill>
                  <a:srgbClr val="009999"/>
                </a:solidFill>
              </a:rPr>
              <a:t>🎯 Business Opportunity Insights</a:t>
            </a:r>
            <a:endParaRPr lang="en-US" sz="1400" b="1" dirty="0">
              <a:solidFill>
                <a:srgbClr val="009999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38912" y="3502152"/>
            <a:ext cx="3840480" cy="1212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/>
              <a:t>🚀 </a:t>
            </a:r>
            <a:r>
              <a:rPr lang="en-IN" sz="1400" b="1" dirty="0"/>
              <a:t>213</a:t>
            </a:r>
            <a:r>
              <a:rPr lang="en-IN" sz="1400" dirty="0"/>
              <a:t> high-rated businesses </a:t>
            </a:r>
            <a:r>
              <a:rPr lang="en-IN" sz="1400" b="1" dirty="0"/>
              <a:t>lack a website</a:t>
            </a:r>
            <a:r>
              <a:rPr lang="en-IN" sz="1400" dirty="0"/>
              <a:t> </a:t>
            </a:r>
          </a:p>
          <a:p>
            <a:r>
              <a:rPr lang="en-IN" sz="1400" dirty="0"/>
              <a:t>🍽️ </a:t>
            </a:r>
            <a:r>
              <a:rPr lang="en-IN" sz="1400" b="1" dirty="0"/>
              <a:t>Restaurants</a:t>
            </a:r>
            <a:r>
              <a:rPr lang="en-IN" sz="1400" dirty="0"/>
              <a:t> have highest number of businesses without websites </a:t>
            </a:r>
          </a:p>
          <a:p>
            <a:r>
              <a:rPr lang="en-IN" sz="1400" dirty="0"/>
              <a:t>💼 High-rated, highly reviewed businesses are the </a:t>
            </a:r>
            <a:r>
              <a:rPr lang="en-IN" sz="1400" b="1" dirty="0"/>
              <a:t>best prospects for digital marketing &amp; website development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822959"/>
            <a:ext cx="4206240" cy="194113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 flipH="1">
            <a:off x="4810830" y="906130"/>
            <a:ext cx="45719" cy="178264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9326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b="1" dirty="0">
                <a:solidFill>
                  <a:srgbClr val="009999"/>
                </a:solidFill>
              </a:rPr>
              <a:t>📍 Location Insights</a:t>
            </a:r>
          </a:p>
        </p:txBody>
      </p:sp>
      <p:sp>
        <p:nvSpPr>
          <p:cNvPr id="15" name="Text 13"/>
          <p:cNvSpPr/>
          <p:nvPr/>
        </p:nvSpPr>
        <p:spPr>
          <a:xfrm>
            <a:off x="4919472" y="1298448"/>
            <a:ext cx="3840480" cy="1273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/>
              <a:t>🏙️ </a:t>
            </a:r>
            <a:r>
              <a:rPr lang="en-IN" sz="1400" b="1" dirty="0"/>
              <a:t>Uran</a:t>
            </a:r>
            <a:r>
              <a:rPr lang="en-IN" sz="1400" dirty="0"/>
              <a:t> has highest concentration of businesses </a:t>
            </a:r>
          </a:p>
          <a:p>
            <a:r>
              <a:rPr lang="en-IN" sz="1400" dirty="0"/>
              <a:t>📌 </a:t>
            </a:r>
            <a:r>
              <a:rPr lang="en-IN" sz="1400" b="1" dirty="0" err="1"/>
              <a:t>Alibaug</a:t>
            </a:r>
            <a:r>
              <a:rPr lang="en-IN" sz="1400" dirty="0"/>
              <a:t> is top-priority area for digital outreach </a:t>
            </a:r>
          </a:p>
          <a:p>
            <a:r>
              <a:rPr lang="en-IN" sz="1400" dirty="0"/>
              <a:t>⭐ </a:t>
            </a:r>
            <a:r>
              <a:rPr lang="en-IN" sz="1400" b="1" dirty="0" err="1"/>
              <a:t>Mhasla</a:t>
            </a:r>
            <a:r>
              <a:rPr lang="en-IN" sz="1400" dirty="0"/>
              <a:t> has the highest average business rating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36592" y="2990088"/>
            <a:ext cx="4206240" cy="192187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86884" y="3086101"/>
            <a:ext cx="45719" cy="1825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30861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dirty="0"/>
              <a:t>💼 </a:t>
            </a:r>
            <a:r>
              <a:rPr lang="en-IN" sz="1600" b="1" dirty="0">
                <a:solidFill>
                  <a:srgbClr val="009999"/>
                </a:solidFill>
              </a:rPr>
              <a:t>Strategies</a:t>
            </a:r>
            <a:endParaRPr lang="en-US" sz="1400" b="1" dirty="0">
              <a:solidFill>
                <a:srgbClr val="009999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19472" y="3502152"/>
            <a:ext cx="3840480" cy="1206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/>
              <a:t>🌍 Expand digital presence </a:t>
            </a:r>
          </a:p>
          <a:p>
            <a:r>
              <a:rPr lang="en-IN" sz="1400" dirty="0"/>
              <a:t>⭐ Prioritize high-rated businesses </a:t>
            </a:r>
          </a:p>
          <a:p>
            <a:r>
              <a:rPr lang="en-IN" sz="1400" dirty="0"/>
              <a:t>📍 Target key locations </a:t>
            </a:r>
          </a:p>
          <a:p>
            <a:r>
              <a:rPr lang="en-IN" sz="1400" dirty="0"/>
              <a:t>🚀 Maximize growth opportunities</a:t>
            </a:r>
            <a:endParaRPr lang="en-US" sz="14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087EDF-91E9-853D-3E72-233CDC049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87D9F0B-1F40-344E-742A-8F6E881E3CE8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AE9EFF9-7694-3C36-9783-11D506975CEE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2BDE5C4-27FE-DE96-1586-2236C3B7645C}"/>
              </a:ext>
            </a:extLst>
          </p:cNvPr>
          <p:cNvSpPr/>
          <p:nvPr/>
        </p:nvSpPr>
        <p:spPr>
          <a:xfrm>
            <a:off x="457200" y="1560204"/>
            <a:ext cx="64008" cy="262295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FCA87DD-5A84-2529-96BE-110D256602D3}"/>
              </a:ext>
            </a:extLst>
          </p:cNvPr>
          <p:cNvSpPr/>
          <p:nvPr/>
        </p:nvSpPr>
        <p:spPr>
          <a:xfrm>
            <a:off x="685800" y="190076"/>
            <a:ext cx="7772400" cy="519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200" b="1" dirty="0">
                <a:solidFill>
                  <a:srgbClr val="00CC99"/>
                </a:solidFill>
                <a:latin typeface="Calibri" panose="020F0502020204030204"/>
              </a:rPr>
              <a:t>Top 10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00CC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Business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0CC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43013A3-796E-C0BD-35C7-35405932F388}"/>
              </a:ext>
            </a:extLst>
          </p:cNvPr>
          <p:cNvSpPr/>
          <p:nvPr/>
        </p:nvSpPr>
        <p:spPr>
          <a:xfrm>
            <a:off x="772888" y="1560204"/>
            <a:ext cx="7772400" cy="287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IN" b="1" dirty="0" err="1">
                <a:solidFill>
                  <a:srgbClr val="FFC000"/>
                </a:solidFill>
              </a:rPr>
              <a:t>Kapils</a:t>
            </a:r>
            <a:r>
              <a:rPr lang="en-IN" b="1" dirty="0">
                <a:solidFill>
                  <a:srgbClr val="FFC000"/>
                </a:solidFill>
              </a:rPr>
              <a:t> Salon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rgbClr val="FFC000"/>
                </a:solidFill>
              </a:rPr>
              <a:t>Patel Jewellers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rgbClr val="FFC000"/>
                </a:solidFill>
              </a:rPr>
              <a:t>Reliance Digital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rgbClr val="FFC000"/>
                </a:solidFill>
              </a:rPr>
              <a:t>Orian Mall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rgbClr val="FFC000"/>
                </a:solidFill>
              </a:rPr>
              <a:t>The Cake World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rgbClr val="FFC000"/>
                </a:solidFill>
              </a:rPr>
              <a:t>Café School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 err="1">
                <a:solidFill>
                  <a:srgbClr val="FFC000"/>
                </a:solidFill>
              </a:rPr>
              <a:t>Chandukaka</a:t>
            </a:r>
            <a:r>
              <a:rPr lang="en-IN" b="1" dirty="0">
                <a:solidFill>
                  <a:srgbClr val="FFC000"/>
                </a:solidFill>
              </a:rPr>
              <a:t> Saraf Pvt Ltd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rgbClr val="FFC000"/>
                </a:solidFill>
              </a:rPr>
              <a:t>Maruti Suzuki &amp; Nexa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rgbClr val="FFC000"/>
                </a:solidFill>
              </a:rPr>
              <a:t>St. Ricky's Apartments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rgbClr val="FFC000"/>
                </a:solidFill>
              </a:rPr>
              <a:t>Hotel Guruprasad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8636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325880"/>
          </a:xfrm>
          <a:prstGeom prst="rect">
            <a:avLst/>
          </a:prstGeom>
          <a:solidFill>
            <a:srgbClr val="1B2A4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7955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000" b="1" dirty="0">
                <a:solidFill>
                  <a:schemeClr val="bg2"/>
                </a:solidFill>
              </a:rPr>
              <a:t>A strong online presence helps businesses increase visibility, attract more customers, and drive long-term growth.</a:t>
            </a:r>
            <a:endParaRPr lang="en-US" b="1" dirty="0">
              <a:solidFill>
                <a:schemeClr val="bg2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1981198" cy="1920240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331720"/>
            <a:ext cx="1989909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331720"/>
            <a:ext cx="19790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6374" y="2775857"/>
            <a:ext cx="1750422" cy="14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600" b="1" dirty="0">
                <a:solidFill>
                  <a:srgbClr val="FFC000"/>
                </a:solidFill>
              </a:rPr>
              <a:t>🌐</a:t>
            </a:r>
          </a:p>
          <a:p>
            <a:pPr algn="ctr"/>
            <a:r>
              <a:rPr lang="en-IN" sz="1600" b="1" dirty="0">
                <a:solidFill>
                  <a:srgbClr val="FFC000"/>
                </a:solidFill>
              </a:rPr>
              <a:t>Expand digital presence for high-rated businesses without websites. </a:t>
            </a:r>
            <a:endParaRPr lang="en-US" sz="1600" b="1" dirty="0">
              <a:solidFill>
                <a:srgbClr val="FFC00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481944" y="2331720"/>
            <a:ext cx="1981198" cy="1920240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81944" y="2331720"/>
            <a:ext cx="1981198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2828" y="2331720"/>
            <a:ext cx="19681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12572" y="2784348"/>
            <a:ext cx="1729524" cy="140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600" b="1" dirty="0">
                <a:solidFill>
                  <a:srgbClr val="FFC000"/>
                </a:solidFill>
              </a:rPr>
              <a:t>🍽️</a:t>
            </a:r>
          </a:p>
          <a:p>
            <a:pPr algn="ctr"/>
            <a:r>
              <a:rPr lang="en-IN" sz="1600" b="1" dirty="0">
                <a:solidFill>
                  <a:srgbClr val="FFC000"/>
                </a:solidFill>
              </a:rPr>
              <a:t>Prioritize the restaurant sector for website adoption.</a:t>
            </a:r>
            <a:endParaRPr lang="en-US" sz="1600" b="1" dirty="0">
              <a:solidFill>
                <a:srgbClr val="FFC00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98129" y="2331720"/>
            <a:ext cx="1981198" cy="1920240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98130" y="2331720"/>
            <a:ext cx="1981198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5954" y="2331720"/>
            <a:ext cx="19833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13514" y="2784348"/>
            <a:ext cx="1730829" cy="140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600" b="1" dirty="0">
                <a:solidFill>
                  <a:srgbClr val="FFC000"/>
                </a:solidFill>
              </a:rPr>
              <a:t>📍</a:t>
            </a:r>
          </a:p>
          <a:p>
            <a:pPr algn="ctr"/>
            <a:r>
              <a:rPr lang="en-IN" sz="1600" b="1" dirty="0">
                <a:solidFill>
                  <a:srgbClr val="FFC000"/>
                </a:solidFill>
              </a:rPr>
              <a:t>Focus marketing efforts on Uran, </a:t>
            </a:r>
            <a:r>
              <a:rPr lang="en-IN" sz="1600" b="1" dirty="0" err="1">
                <a:solidFill>
                  <a:srgbClr val="FFC000"/>
                </a:solidFill>
              </a:rPr>
              <a:t>Alibaug</a:t>
            </a:r>
            <a:r>
              <a:rPr lang="en-IN" sz="1600" b="1" dirty="0">
                <a:solidFill>
                  <a:srgbClr val="FFC000"/>
                </a:solidFill>
              </a:rPr>
              <a:t>, and Pen.</a:t>
            </a:r>
            <a:endParaRPr lang="en-US" sz="1600" b="1" dirty="0">
              <a:solidFill>
                <a:srgbClr val="FFC000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0" y="4434840"/>
            <a:ext cx="9144000" cy="7040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434840"/>
            <a:ext cx="91440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 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6D51E683-CC42-5C95-2466-5786F59B5DE5}"/>
              </a:ext>
            </a:extLst>
          </p:cNvPr>
          <p:cNvSpPr/>
          <p:nvPr/>
        </p:nvSpPr>
        <p:spPr>
          <a:xfrm>
            <a:off x="6712140" y="2331720"/>
            <a:ext cx="2066102" cy="1920240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564A5D98-0383-86CA-2A33-1CDE20E33C57}"/>
              </a:ext>
            </a:extLst>
          </p:cNvPr>
          <p:cNvSpPr/>
          <p:nvPr/>
        </p:nvSpPr>
        <p:spPr>
          <a:xfrm>
            <a:off x="6723023" y="2331720"/>
            <a:ext cx="2066102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DB12E95C-19D6-D4D8-B10F-FBCD4D7EABBB}"/>
              </a:ext>
            </a:extLst>
          </p:cNvPr>
          <p:cNvSpPr/>
          <p:nvPr/>
        </p:nvSpPr>
        <p:spPr>
          <a:xfrm>
            <a:off x="6723022" y="2331720"/>
            <a:ext cx="2055217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04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4835BBE0-C622-8D2E-91BE-7D5443BECD92}"/>
              </a:ext>
            </a:extLst>
          </p:cNvPr>
          <p:cNvSpPr/>
          <p:nvPr/>
        </p:nvSpPr>
        <p:spPr>
          <a:xfrm>
            <a:off x="6825343" y="2784348"/>
            <a:ext cx="1832283" cy="140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600" b="1" dirty="0">
                <a:solidFill>
                  <a:srgbClr val="FFC000"/>
                </a:solidFill>
              </a:rPr>
              <a:t>🚀</a:t>
            </a:r>
          </a:p>
          <a:p>
            <a:pPr algn="ctr"/>
            <a:r>
              <a:rPr lang="en-IN" sz="1600" b="1" dirty="0">
                <a:solidFill>
                  <a:srgbClr val="FFC000"/>
                </a:solidFill>
              </a:rPr>
              <a:t>Use Opportunity Score to target the highest-value businesses first.</a:t>
            </a:r>
            <a:endParaRPr lang="en-US" sz="16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253</Words>
  <Application>Microsoft Office PowerPoint</Application>
  <PresentationFormat>On-screen Show (16:9)</PresentationFormat>
  <Paragraphs>60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Hospitality Analytics Dashboard</dc:title>
  <dc:subject>PptxGenJS Presentation</dc:subject>
  <dc:creator>Hospitality Analytics Team</dc:creator>
  <cp:lastModifiedBy>Shruti Revankar</cp:lastModifiedBy>
  <cp:revision>16</cp:revision>
  <dcterms:created xsi:type="dcterms:W3CDTF">2026-04-18T08:38:41Z</dcterms:created>
  <dcterms:modified xsi:type="dcterms:W3CDTF">2026-07-03T14:26:34Z</dcterms:modified>
</cp:coreProperties>
</file>